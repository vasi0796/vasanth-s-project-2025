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4"/>
  </p:notesMasterIdLst>
  <p:sldIdLst>
    <p:sldId id="257" r:id="rId2"/>
    <p:sldId id="258" r:id="rId3"/>
    <p:sldId id="259" r:id="rId4"/>
    <p:sldId id="260" r:id="rId5"/>
    <p:sldId id="261" r:id="rId6"/>
    <p:sldId id="262" r:id="rId7"/>
    <p:sldId id="270" r:id="rId8"/>
    <p:sldId id="263" r:id="rId9"/>
    <p:sldId id="264" r:id="rId10"/>
    <p:sldId id="267" r:id="rId11"/>
    <p:sldId id="268" r:id="rId12"/>
    <p:sldId id="269" r:id="rId13"/>
  </p:sldIdLst>
  <p:sldSz cx="9144000" cy="5143500" type="screen16x9"/>
  <p:notesSz cx="6858000" cy="9144000"/>
  <p:embeddedFontLst>
    <p:embeddedFont>
      <p:font typeface="Montserrat" pitchFamily="2" charset="77"/>
      <p:regular r:id="rId15"/>
      <p:bold r:id="rId16"/>
      <p:italic r:id="rId17"/>
      <p:boldItalic r:id="rId18"/>
    </p:embeddedFont>
    <p:embeddedFont>
      <p:font typeface="Montserrat Medium" panose="020F0502020204030204" pitchFamily="34"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58"/>
    <p:restoredTop sz="94673"/>
  </p:normalViewPr>
  <p:slideViewPr>
    <p:cSldViewPr snapToGrid="0">
      <p:cViewPr varScale="1">
        <p:scale>
          <a:sx n="154" d="100"/>
          <a:sy n="154" d="100"/>
        </p:scale>
        <p:origin x="440" y="19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710536e18d_0_0:notes"/>
          <p:cNvSpPr txBox="1">
            <a:spLocks noGrp="1"/>
          </p:cNvSpPr>
          <p:nvPr>
            <p:ph type="body" idx="1"/>
          </p:nvPr>
        </p:nvSpPr>
        <p:spPr>
          <a:xfrm>
            <a:off x="914400" y="3251200"/>
            <a:ext cx="7315200" cy="308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 name="Google Shape;58;g3710536e18d_0_0:notes"/>
          <p:cNvSpPr>
            <a:spLocks noGrp="1" noRot="1" noChangeAspect="1"/>
          </p:cNvSpPr>
          <p:nvPr>
            <p:ph type="sldImg" idx="2"/>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3710536e18d_0_8: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7" name="Google Shape;67;g3710536e18d_0_8: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 sz="1200">
                <a:solidFill>
                  <a:schemeClr val="dk1"/>
                </a:solidFill>
                <a:latin typeface="Calibri"/>
                <a:ea typeface="Calibri"/>
                <a:cs typeface="Calibri"/>
                <a:sym typeface="Calibri"/>
              </a:rPr>
              <a:t>1.7.2013</a:t>
            </a:r>
            <a:endParaRPr/>
          </a:p>
        </p:txBody>
      </p:sp>
      <p:sp>
        <p:nvSpPr>
          <p:cNvPr id="68" name="Google Shape;68;g3710536e18d_0_8: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 name="Google Shape;69;g3710536e18d_0_8:notes"/>
          <p:cNvSpPr txBox="1">
            <a:spLocks noGrp="1"/>
          </p:cNvSpPr>
          <p:nvPr>
            <p:ph type="body" idx="1"/>
          </p:nvPr>
        </p:nvSpPr>
        <p:spPr>
          <a:xfrm>
            <a:off x="914400" y="3251200"/>
            <a:ext cx="7315200" cy="3081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Good morning, everyone. This project is on the spaceship Titanic dataset, where the transportation has been predicted by machine learning and AI. The project is similar to the Titanic challenges but set in a futuristic scenario, where the spaceship travels and transportation to another dimension has been presented. All the steps of data analytics and model development have been followed for efficient prediction. The Titanic dataset represents the binary classification challenge of predicting the transportation of passengers in another dimension. The analysis has been performed depending on the features, such as age, cabin details, additional travelling information, and spending on the amenities on the spaceship. </a:t>
            </a:r>
            <a:endParaRPr/>
          </a:p>
        </p:txBody>
      </p:sp>
      <p:sp>
        <p:nvSpPr>
          <p:cNvPr id="70" name="Google Shape;70;g3710536e18d_0_8:notes"/>
          <p:cNvSpPr txBox="1">
            <a:spLocks noGrp="1"/>
          </p:cNvSpPr>
          <p:nvPr>
            <p:ph type="ftr" idx="11"/>
          </p:nvPr>
        </p:nvSpPr>
        <p:spPr>
          <a:xfrm>
            <a:off x="0" y="6502400"/>
            <a:ext cx="3962400" cy="3414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71" name="Google Shape;71;g3710536e18d_0_8:notes"/>
          <p:cNvSpPr txBox="1">
            <a:spLocks noGrp="1"/>
          </p:cNvSpPr>
          <p:nvPr>
            <p:ph type="sldNum" idx="12"/>
          </p:nvPr>
        </p:nvSpPr>
        <p:spPr>
          <a:xfrm>
            <a:off x="5180013" y="6502400"/>
            <a:ext cx="3962400" cy="3414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 sz="1200">
                <a:solidFill>
                  <a:schemeClr val="dk1"/>
                </a:solidFill>
                <a:latin typeface="Calibri"/>
                <a:ea typeface="Calibri"/>
                <a:cs typeface="Calibri"/>
                <a:sym typeface="Calibri"/>
              </a:rPr>
              <a: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3710536e18d_0_20: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80" name="Google Shape;80;g3710536e18d_0_20: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 sz="1200">
                <a:solidFill>
                  <a:schemeClr val="dk1"/>
                </a:solidFill>
                <a:latin typeface="Calibri"/>
                <a:ea typeface="Calibri"/>
                <a:cs typeface="Calibri"/>
                <a:sym typeface="Calibri"/>
              </a:rPr>
              <a:t>1.7.2013</a:t>
            </a:r>
            <a:endParaRPr/>
          </a:p>
        </p:txBody>
      </p:sp>
      <p:sp>
        <p:nvSpPr>
          <p:cNvPr id="81" name="Google Shape;81;g3710536e18d_0_20: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 name="Google Shape;82;g3710536e18d_0_20:notes"/>
          <p:cNvSpPr txBox="1">
            <a:spLocks noGrp="1"/>
          </p:cNvSpPr>
          <p:nvPr>
            <p:ph type="body" idx="1"/>
          </p:nvPr>
        </p:nvSpPr>
        <p:spPr>
          <a:xfrm>
            <a:off x="914400" y="3251200"/>
            <a:ext cx="7315200" cy="3081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The dataset contains the training data, testing data, and the sample format for the prediction, where the training data is used for the exploratory data analysis and the machine learning model training. Further, the test data has been used for evaluating the efficiency of the model and generating predictions of the transportation. The target variable in the dataset is the transported variable, and depending on the other variables of the dataset, the model is going to predict whether the passenger is transported or not. The model has been trained by assigning the other variable of the dataset as features. </a:t>
            </a:r>
            <a:endParaRPr/>
          </a:p>
        </p:txBody>
      </p:sp>
      <p:sp>
        <p:nvSpPr>
          <p:cNvPr id="83" name="Google Shape;83;g3710536e18d_0_20:notes"/>
          <p:cNvSpPr txBox="1">
            <a:spLocks noGrp="1"/>
          </p:cNvSpPr>
          <p:nvPr>
            <p:ph type="ftr" idx="11"/>
          </p:nvPr>
        </p:nvSpPr>
        <p:spPr>
          <a:xfrm>
            <a:off x="0" y="6502400"/>
            <a:ext cx="3962400" cy="3414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84" name="Google Shape;84;g3710536e18d_0_20:notes"/>
          <p:cNvSpPr txBox="1">
            <a:spLocks noGrp="1"/>
          </p:cNvSpPr>
          <p:nvPr>
            <p:ph type="sldNum" idx="12"/>
          </p:nvPr>
        </p:nvSpPr>
        <p:spPr>
          <a:xfrm>
            <a:off x="5180013" y="6502400"/>
            <a:ext cx="3962400" cy="3414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 sz="1200">
                <a:solidFill>
                  <a:schemeClr val="dk1"/>
                </a:solidFill>
                <a:latin typeface="Calibri"/>
                <a:ea typeface="Calibri"/>
                <a:cs typeface="Calibri"/>
                <a:sym typeface="Calibri"/>
              </a:rPr>
              <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710536e18d_0_32: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93" name="Google Shape;93;g3710536e18d_0_32: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 sz="1200">
                <a:solidFill>
                  <a:schemeClr val="dk1"/>
                </a:solidFill>
                <a:latin typeface="Calibri"/>
                <a:ea typeface="Calibri"/>
                <a:cs typeface="Calibri"/>
                <a:sym typeface="Calibri"/>
              </a:rPr>
              <a:t>1.7.2013</a:t>
            </a:r>
            <a:endParaRPr/>
          </a:p>
        </p:txBody>
      </p:sp>
      <p:sp>
        <p:nvSpPr>
          <p:cNvPr id="94" name="Google Shape;94;g3710536e18d_0_32: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 name="Google Shape;95;g3710536e18d_0_32:notes"/>
          <p:cNvSpPr txBox="1">
            <a:spLocks noGrp="1"/>
          </p:cNvSpPr>
          <p:nvPr>
            <p:ph type="body" idx="1"/>
          </p:nvPr>
        </p:nvSpPr>
        <p:spPr>
          <a:xfrm>
            <a:off x="914400" y="3251200"/>
            <a:ext cx="7315200" cy="3081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The data has been prepared in this task by loading the training and testing data into the program and analyzing the basic details of the dataset. In the basic analysis of the dataset, the missing values and outliers have been analysed. Null values have been seen in most columns of the dataset; further, the fillna method has been used for filling the missing cells in the dataset. The data types and structure have also been analysed to identify the categorical and numerical columns in the dataset. The dataset has been combined further for uniform processing of the dataset. The cabin data has been broken down into different columns, such as Deck, CabinNum, and Side. </a:t>
            </a:r>
            <a:endParaRPr/>
          </a:p>
        </p:txBody>
      </p:sp>
      <p:sp>
        <p:nvSpPr>
          <p:cNvPr id="96" name="Google Shape;96;g3710536e18d_0_32:notes"/>
          <p:cNvSpPr txBox="1">
            <a:spLocks noGrp="1"/>
          </p:cNvSpPr>
          <p:nvPr>
            <p:ph type="ftr" idx="11"/>
          </p:nvPr>
        </p:nvSpPr>
        <p:spPr>
          <a:xfrm>
            <a:off x="0" y="6502400"/>
            <a:ext cx="3962400" cy="3414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97" name="Google Shape;97;g3710536e18d_0_32:notes"/>
          <p:cNvSpPr txBox="1">
            <a:spLocks noGrp="1"/>
          </p:cNvSpPr>
          <p:nvPr>
            <p:ph type="sldNum" idx="12"/>
          </p:nvPr>
        </p:nvSpPr>
        <p:spPr>
          <a:xfrm>
            <a:off x="5180013" y="6502400"/>
            <a:ext cx="3962400" cy="3414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 sz="1200">
                <a:solidFill>
                  <a:schemeClr val="dk1"/>
                </a:solidFill>
                <a:latin typeface="Calibri"/>
                <a:ea typeface="Calibri"/>
                <a:cs typeface="Calibri"/>
                <a:sym typeface="Calibri"/>
              </a:rPr>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710536e18d_0_62: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24" name="Google Shape;124;g3710536e18d_0_62: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 sz="1200">
                <a:solidFill>
                  <a:schemeClr val="dk1"/>
                </a:solidFill>
                <a:latin typeface="Calibri"/>
                <a:ea typeface="Calibri"/>
                <a:cs typeface="Calibri"/>
                <a:sym typeface="Calibri"/>
              </a:rPr>
              <a:t>1.7.2013</a:t>
            </a:r>
            <a:endParaRPr/>
          </a:p>
        </p:txBody>
      </p:sp>
      <p:sp>
        <p:nvSpPr>
          <p:cNvPr id="125" name="Google Shape;125;g3710536e18d_0_62: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g3710536e18d_0_62:notes"/>
          <p:cNvSpPr txBox="1">
            <a:spLocks noGrp="1"/>
          </p:cNvSpPr>
          <p:nvPr>
            <p:ph type="body" idx="1"/>
          </p:nvPr>
        </p:nvSpPr>
        <p:spPr>
          <a:xfrm>
            <a:off x="914400" y="3251200"/>
            <a:ext cx="7315200" cy="3081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On this slide, there has been a presentation of in-depth exploratory data analysis to reveal insightful patterns as well as potential predictors for the target variable, Transported. From the first subplot, there is the distribution of passengers' ages, which is significantly right-skewed. There is a peak at the 20–30 age group, which shows that most passengers are young adults. There is also a visible number of children and adolescents, and fewer older passengers, indicating a relatively young population on board. In the second plot, VIP status distribution has been examined using the bar plot. The plot has represented that the vast majority of the passengers are not VIP, only a small percentage have been marked as true. Finally, the heatmap of correlation gives a quantitative understanding of the correlation between the numerical variable and the target variable (Atmanspacher and Martin, 2019). Negative correlations of spending measures, like RoomService (-0.24), Spa (-0.22), VRDeck (-0.21), and Transported, have been seen by the heatmap.</a:t>
            </a:r>
            <a:endParaRPr/>
          </a:p>
        </p:txBody>
      </p:sp>
      <p:sp>
        <p:nvSpPr>
          <p:cNvPr id="127" name="Google Shape;127;g3710536e18d_0_62:notes"/>
          <p:cNvSpPr txBox="1">
            <a:spLocks noGrp="1"/>
          </p:cNvSpPr>
          <p:nvPr>
            <p:ph type="ftr" idx="11"/>
          </p:nvPr>
        </p:nvSpPr>
        <p:spPr>
          <a:xfrm>
            <a:off x="0" y="6502400"/>
            <a:ext cx="3962400" cy="3414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28" name="Google Shape;128;g3710536e18d_0_62:notes"/>
          <p:cNvSpPr txBox="1">
            <a:spLocks noGrp="1"/>
          </p:cNvSpPr>
          <p:nvPr>
            <p:ph type="sldNum" idx="12"/>
          </p:nvPr>
        </p:nvSpPr>
        <p:spPr>
          <a:xfrm>
            <a:off x="5180013" y="6502400"/>
            <a:ext cx="3962400" cy="3414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 sz="1200">
                <a:solidFill>
                  <a:schemeClr val="dk1"/>
                </a:solidFill>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3710536e18d_0_77: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40" name="Google Shape;140;g3710536e18d_0_77: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 sz="1200">
                <a:solidFill>
                  <a:schemeClr val="dk1"/>
                </a:solidFill>
                <a:latin typeface="Calibri"/>
                <a:ea typeface="Calibri"/>
                <a:cs typeface="Calibri"/>
                <a:sym typeface="Calibri"/>
              </a:rPr>
              <a:t>1.7.2013</a:t>
            </a:r>
            <a:endParaRPr/>
          </a:p>
        </p:txBody>
      </p:sp>
      <p:sp>
        <p:nvSpPr>
          <p:cNvPr id="141" name="Google Shape;141;g3710536e18d_0_77: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2" name="Google Shape;142;g3710536e18d_0_77:notes"/>
          <p:cNvSpPr txBox="1">
            <a:spLocks noGrp="1"/>
          </p:cNvSpPr>
          <p:nvPr>
            <p:ph type="body" idx="1"/>
          </p:nvPr>
        </p:nvSpPr>
        <p:spPr>
          <a:xfrm>
            <a:off x="914400" y="3251200"/>
            <a:ext cx="7315200" cy="3081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During the data preprocessing stage, a number of important preprocessing operations have been carried out in order to prepare the data for model training. Missing values have been treated by splitting categorical and numerical columns. Missing values for categorical features like 'HomePlanet', 'CryoSleep', and 'Destination' have been replaced with the most frequent value (mode), whereas numerical features like 'Age', 'RoomService', and 'FoodCourt' have been imputed with the median to minimize the impact of outliers. In addition, the new feature, such as 'TotalExpenses', has been generated by adding expenditures across various amenities like RoomService, FoodCourt, ShoppingMall, Spa, and VRDeck. This new feature gave a better overview of the overall spending behavior of a passenger and served as a strong predictor. After that, the categorical features have been encoded by the label encoder, which has transformed textual values into numerical form so that models can handle them efficiently (Bolikulov et al., 2024). This whole and systematic preprocessing pipeline made sure that the data was clean, relevant, and ready to be fed into machine learning models.</a:t>
            </a:r>
            <a:endParaRPr/>
          </a:p>
        </p:txBody>
      </p:sp>
      <p:sp>
        <p:nvSpPr>
          <p:cNvPr id="143" name="Google Shape;143;g3710536e18d_0_77:notes"/>
          <p:cNvSpPr txBox="1">
            <a:spLocks noGrp="1"/>
          </p:cNvSpPr>
          <p:nvPr>
            <p:ph type="ftr" idx="11"/>
          </p:nvPr>
        </p:nvSpPr>
        <p:spPr>
          <a:xfrm>
            <a:off x="0" y="6502400"/>
            <a:ext cx="3962400" cy="3414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44" name="Google Shape;144;g3710536e18d_0_77:notes"/>
          <p:cNvSpPr txBox="1">
            <a:spLocks noGrp="1"/>
          </p:cNvSpPr>
          <p:nvPr>
            <p:ph type="sldNum" idx="12"/>
          </p:nvPr>
        </p:nvSpPr>
        <p:spPr>
          <a:xfrm>
            <a:off x="5180013" y="6502400"/>
            <a:ext cx="3962400" cy="3414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 sz="1200">
                <a:solidFill>
                  <a:schemeClr val="dk1"/>
                </a:solidFill>
                <a:latin typeface="Calibri"/>
                <a:ea typeface="Calibri"/>
                <a:cs typeface="Calibri"/>
                <a:sym typeface="Calibri"/>
              </a:rPr>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710536e18d_0_96: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60" name="Google Shape;160;g3710536e18d_0_96: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 sz="1200">
                <a:solidFill>
                  <a:schemeClr val="dk1"/>
                </a:solidFill>
                <a:latin typeface="Calibri"/>
                <a:ea typeface="Calibri"/>
                <a:cs typeface="Calibri"/>
                <a:sym typeface="Calibri"/>
              </a:rPr>
              <a:t>1.7.2013</a:t>
            </a:r>
            <a:endParaRPr/>
          </a:p>
        </p:txBody>
      </p:sp>
      <p:sp>
        <p:nvSpPr>
          <p:cNvPr id="161" name="Google Shape;161;g3710536e18d_0_96: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g3710536e18d_0_96:notes"/>
          <p:cNvSpPr txBox="1">
            <a:spLocks noGrp="1"/>
          </p:cNvSpPr>
          <p:nvPr>
            <p:ph type="body" idx="1"/>
          </p:nvPr>
        </p:nvSpPr>
        <p:spPr>
          <a:xfrm>
            <a:off x="914400" y="3251200"/>
            <a:ext cx="7315200" cy="3081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In this slide, our project's model training and evaluation phase has been discussed, wherein two high-performance gradient boosting algorithms, such as XGBoost and LightGBM, have been utilized. Both of the models are highly acclaimed for their performance as well as speed in the task of classification. The models have been initialized with stable random seeds to provide reproducibility. A strong effectiveness assessment has been conducted by using Stratified K-Fold Cross Validation with five folds. This method has ensured that every fold has the same class distribution as the overall dataset, something that is especially helpful in imbalanced classification problems. The outcome indicates LightGBM performed better than XGBoost, with an average accuracy of 0.8155 compared to XGBoost's 0.8049. This indicates LightGBM's slightly better generalization capacity on our dataset. These results informed our choice in choosing the better-performing model for future use at deployment or more complex analysis phases.</a:t>
            </a:r>
            <a:endParaRPr/>
          </a:p>
        </p:txBody>
      </p:sp>
      <p:sp>
        <p:nvSpPr>
          <p:cNvPr id="163" name="Google Shape;163;g3710536e18d_0_96:notes"/>
          <p:cNvSpPr txBox="1">
            <a:spLocks noGrp="1"/>
          </p:cNvSpPr>
          <p:nvPr>
            <p:ph type="ftr" idx="11"/>
          </p:nvPr>
        </p:nvSpPr>
        <p:spPr>
          <a:xfrm>
            <a:off x="0" y="6502400"/>
            <a:ext cx="3962400" cy="3414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64" name="Google Shape;164;g3710536e18d_0_96:notes"/>
          <p:cNvSpPr txBox="1">
            <a:spLocks noGrp="1"/>
          </p:cNvSpPr>
          <p:nvPr>
            <p:ph type="sldNum" idx="12"/>
          </p:nvPr>
        </p:nvSpPr>
        <p:spPr>
          <a:xfrm>
            <a:off x="5180013" y="6502400"/>
            <a:ext cx="3962400" cy="3414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 sz="1200">
                <a:solidFill>
                  <a:schemeClr val="dk1"/>
                </a:solidFill>
                <a:latin typeface="Calibri"/>
                <a:ea typeface="Calibri"/>
                <a:cs typeface="Calibri"/>
                <a:sym typeface="Calibri"/>
              </a:rPr>
              <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3710536e18d_0_110: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75" name="Google Shape;175;g3710536e18d_0_110: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 sz="1200">
                <a:solidFill>
                  <a:schemeClr val="dk1"/>
                </a:solidFill>
                <a:latin typeface="Calibri"/>
                <a:ea typeface="Calibri"/>
                <a:cs typeface="Calibri"/>
                <a:sym typeface="Calibri"/>
              </a:rPr>
              <a:t>1.7.2013</a:t>
            </a:r>
            <a:endParaRPr/>
          </a:p>
        </p:txBody>
      </p:sp>
      <p:sp>
        <p:nvSpPr>
          <p:cNvPr id="176" name="Google Shape;176;g3710536e18d_0_110: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7" name="Google Shape;177;g3710536e18d_0_110:notes"/>
          <p:cNvSpPr txBox="1">
            <a:spLocks noGrp="1"/>
          </p:cNvSpPr>
          <p:nvPr>
            <p:ph type="body" idx="1"/>
          </p:nvPr>
        </p:nvSpPr>
        <p:spPr>
          <a:xfrm>
            <a:off x="914400" y="3251200"/>
            <a:ext cx="7315200" cy="3081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Here, in this slide, we have compared and interpreted the performance of two models, which have been trained previously. Performance on different folds has been compared through cross-validation, so we can not only check the average accuracy but also the robustness of each model. As evident, the fold accuracies of XGBoost varied from 0.7964 to 0.8114 with an average accuracy of 0.8049. This minor fluctuation between folds indicates that it is doing reasonably well, but with some unpredictability in the forecast. In contrast, LightGBM performed uniformly well, with fold accuracies between 0.8124 and 0.8199, and an average accuracy of 0.8155. Not just does LightGBM have a better average accuracy, but it also shows less variability between all the folds, suggesting improved generalization on new data. This comparison brings to fore the fact that LightGBM is the more accurate and stable model in our situation, and thus the first choice for final deployment or further tuning. This is an important step in making sure our final model is both functional and stable.</a:t>
            </a:r>
            <a:endParaRPr/>
          </a:p>
        </p:txBody>
      </p:sp>
      <p:sp>
        <p:nvSpPr>
          <p:cNvPr id="178" name="Google Shape;178;g3710536e18d_0_110:notes"/>
          <p:cNvSpPr txBox="1">
            <a:spLocks noGrp="1"/>
          </p:cNvSpPr>
          <p:nvPr>
            <p:ph type="ftr" idx="11"/>
          </p:nvPr>
        </p:nvSpPr>
        <p:spPr>
          <a:xfrm>
            <a:off x="0" y="6502400"/>
            <a:ext cx="3962400" cy="3414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79" name="Google Shape;179;g3710536e18d_0_110:notes"/>
          <p:cNvSpPr txBox="1">
            <a:spLocks noGrp="1"/>
          </p:cNvSpPr>
          <p:nvPr>
            <p:ph type="sldNum" idx="12"/>
          </p:nvPr>
        </p:nvSpPr>
        <p:spPr>
          <a:xfrm>
            <a:off x="5180013" y="6502400"/>
            <a:ext cx="3962400" cy="3414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 sz="1200">
                <a:solidFill>
                  <a:schemeClr val="dk1"/>
                </a:solidFill>
                <a:latin typeface="Calibri"/>
                <a:ea typeface="Calibri"/>
                <a:cs typeface="Calibri"/>
                <a:sym typeface="Calibri"/>
              </a:rPr>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710536e18d_0_158: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26" name="Google Shape;226;g3710536e18d_0_158: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 sz="1200">
                <a:solidFill>
                  <a:schemeClr val="dk1"/>
                </a:solidFill>
                <a:latin typeface="Calibri"/>
                <a:ea typeface="Calibri"/>
                <a:cs typeface="Calibri"/>
                <a:sym typeface="Calibri"/>
              </a:rPr>
              <a:t>1.7.2013</a:t>
            </a:r>
            <a:endParaRPr/>
          </a:p>
        </p:txBody>
      </p:sp>
      <p:sp>
        <p:nvSpPr>
          <p:cNvPr id="227" name="Google Shape;227;g3710536e18d_0_158: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8" name="Google Shape;228;g3710536e18d_0_158:notes"/>
          <p:cNvSpPr txBox="1">
            <a:spLocks noGrp="1"/>
          </p:cNvSpPr>
          <p:nvPr>
            <p:ph type="body" idx="1"/>
          </p:nvPr>
        </p:nvSpPr>
        <p:spPr>
          <a:xfrm>
            <a:off x="914400" y="3251200"/>
            <a:ext cx="7315200" cy="3081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Systematic comparison has been made between two sophisticated gradient boosting algorithms, such as XGBoost and LightGBM, using Stratified K-Fold Cross-Validation. From the fold-wise accuracy analysis, it was found that LightGBM performed slightly better with a higher average accuracy, indicating improved generalisation.</a:t>
            </a:r>
            <a:endParaRPr/>
          </a:p>
        </p:txBody>
      </p:sp>
      <p:sp>
        <p:nvSpPr>
          <p:cNvPr id="229" name="Google Shape;229;g3710536e18d_0_158:notes"/>
          <p:cNvSpPr txBox="1">
            <a:spLocks noGrp="1"/>
          </p:cNvSpPr>
          <p:nvPr>
            <p:ph type="ftr" idx="11"/>
          </p:nvPr>
        </p:nvSpPr>
        <p:spPr>
          <a:xfrm>
            <a:off x="0" y="6502400"/>
            <a:ext cx="3962400" cy="3414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30" name="Google Shape;230;g3710536e18d_0_158:notes"/>
          <p:cNvSpPr txBox="1">
            <a:spLocks noGrp="1"/>
          </p:cNvSpPr>
          <p:nvPr>
            <p:ph type="sldNum" idx="12"/>
          </p:nvPr>
        </p:nvSpPr>
        <p:spPr>
          <a:xfrm>
            <a:off x="5180013" y="6502400"/>
            <a:ext cx="3962400" cy="3414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 sz="1200">
                <a:solidFill>
                  <a:schemeClr val="dk1"/>
                </a:solidFill>
                <a:latin typeface="Calibri"/>
                <a:ea typeface="Calibri"/>
                <a:cs typeface="Calibri"/>
                <a:sym typeface="Calibri"/>
              </a:rPr>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710536e18d_0_170: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39" name="Google Shape;239;g3710536e18d_0_170: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 sz="1200">
                <a:solidFill>
                  <a:schemeClr val="dk1"/>
                </a:solidFill>
                <a:latin typeface="Calibri"/>
                <a:ea typeface="Calibri"/>
                <a:cs typeface="Calibri"/>
                <a:sym typeface="Calibri"/>
              </a:rPr>
              <a:t>1.7.2013</a:t>
            </a:r>
            <a:endParaRPr/>
          </a:p>
        </p:txBody>
      </p:sp>
      <p:sp>
        <p:nvSpPr>
          <p:cNvPr id="240" name="Google Shape;240;g3710536e18d_0_170: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1" name="Google Shape;241;g3710536e18d_0_170:notes"/>
          <p:cNvSpPr txBox="1">
            <a:spLocks noGrp="1"/>
          </p:cNvSpPr>
          <p:nvPr>
            <p:ph type="body" idx="1"/>
          </p:nvPr>
        </p:nvSpPr>
        <p:spPr>
          <a:xfrm>
            <a:off x="914400" y="3251200"/>
            <a:ext cx="7315200" cy="3081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2" name="Google Shape;242;g3710536e18d_0_170:notes"/>
          <p:cNvSpPr txBox="1">
            <a:spLocks noGrp="1"/>
          </p:cNvSpPr>
          <p:nvPr>
            <p:ph type="ftr" idx="11"/>
          </p:nvPr>
        </p:nvSpPr>
        <p:spPr>
          <a:xfrm>
            <a:off x="0" y="6502400"/>
            <a:ext cx="3962400" cy="3414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43" name="Google Shape;243;g3710536e18d_0_170:notes"/>
          <p:cNvSpPr txBox="1">
            <a:spLocks noGrp="1"/>
          </p:cNvSpPr>
          <p:nvPr>
            <p:ph type="sldNum" idx="12"/>
          </p:nvPr>
        </p:nvSpPr>
        <p:spPr>
          <a:xfrm>
            <a:off x="5180013" y="6502400"/>
            <a:ext cx="3962400" cy="3414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 sz="1200">
                <a:solidFill>
                  <a:schemeClr val="dk1"/>
                </a:solidFill>
                <a:latin typeface="Calibri"/>
                <a:ea typeface="Calibri"/>
                <a:cs typeface="Calibri"/>
                <a:sym typeface="Calibri"/>
              </a:rPr>
              <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3710536e18d_0_182: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52" name="Google Shape;252;g3710536e18d_0_182: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 sz="1200">
                <a:solidFill>
                  <a:schemeClr val="dk1"/>
                </a:solidFill>
                <a:latin typeface="Calibri"/>
                <a:ea typeface="Calibri"/>
                <a:cs typeface="Calibri"/>
                <a:sym typeface="Calibri"/>
              </a:rPr>
              <a:t>1.7.2013</a:t>
            </a:r>
            <a:endParaRPr/>
          </a:p>
        </p:txBody>
      </p:sp>
      <p:sp>
        <p:nvSpPr>
          <p:cNvPr id="253" name="Google Shape;253;g3710536e18d_0_182: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4" name="Google Shape;254;g3710536e18d_0_182:notes"/>
          <p:cNvSpPr txBox="1">
            <a:spLocks noGrp="1"/>
          </p:cNvSpPr>
          <p:nvPr>
            <p:ph type="body" idx="1"/>
          </p:nvPr>
        </p:nvSpPr>
        <p:spPr>
          <a:xfrm>
            <a:off x="914400" y="3251200"/>
            <a:ext cx="7315200" cy="3081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5" name="Google Shape;255;g3710536e18d_0_182:notes"/>
          <p:cNvSpPr txBox="1">
            <a:spLocks noGrp="1"/>
          </p:cNvSpPr>
          <p:nvPr>
            <p:ph type="ftr" idx="11"/>
          </p:nvPr>
        </p:nvSpPr>
        <p:spPr>
          <a:xfrm>
            <a:off x="0" y="6502400"/>
            <a:ext cx="3962400" cy="3414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56" name="Google Shape;256;g3710536e18d_0_182:notes"/>
          <p:cNvSpPr txBox="1">
            <a:spLocks noGrp="1"/>
          </p:cNvSpPr>
          <p:nvPr>
            <p:ph type="sldNum" idx="12"/>
          </p:nvPr>
        </p:nvSpPr>
        <p:spPr>
          <a:xfrm>
            <a:off x="5180013" y="6502400"/>
            <a:ext cx="3962400" cy="3414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 sz="1200">
                <a:solidFill>
                  <a:schemeClr val="dk1"/>
                </a:solidFill>
                <a:latin typeface="Calibri"/>
                <a:ea typeface="Calibri"/>
                <a:cs typeface="Calibri"/>
                <a:sym typeface="Calibri"/>
              </a:rPr>
              <a: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0.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0.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0.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0.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0.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p:nvPr/>
        </p:nvSpPr>
        <p:spPr>
          <a:xfrm flipH="1">
            <a:off x="5195404" y="3106526"/>
            <a:ext cx="3948596" cy="2036974"/>
          </a:xfrm>
          <a:custGeom>
            <a:avLst/>
            <a:gdLst/>
            <a:ahLst/>
            <a:cxnLst/>
            <a:rect l="l" t="t" r="r" b="b"/>
            <a:pathLst>
              <a:path w="11996370" h="7302790" extrusionOk="0">
                <a:moveTo>
                  <a:pt x="11996370" y="0"/>
                </a:moveTo>
                <a:lnTo>
                  <a:pt x="0" y="0"/>
                </a:lnTo>
                <a:lnTo>
                  <a:pt x="0" y="7302791"/>
                </a:lnTo>
                <a:lnTo>
                  <a:pt x="11996370" y="7302791"/>
                </a:lnTo>
                <a:lnTo>
                  <a:pt x="11996370" y="0"/>
                </a:lnTo>
                <a:close/>
              </a:path>
            </a:pathLst>
          </a:custGeom>
          <a:blipFill rotWithShape="1">
            <a:blip r:embed="rId3">
              <a:alphaModFix/>
            </a:blip>
            <a:stretch>
              <a:fillRect/>
            </a:stretch>
          </a:blipFill>
          <a:ln>
            <a:noFill/>
          </a:ln>
        </p:spPr>
        <p:txBody>
          <a:bodyPr spcFirstLastPara="1" wrap="square" lIns="45725" tIns="22850" rIns="45725" bIns="22850" anchor="t" anchorCtr="0">
            <a:noAutofit/>
          </a:bodyPr>
          <a:lstStyle/>
          <a:p>
            <a:pPr marL="0" marR="0" lvl="0" indent="0" algn="l" rtl="0">
              <a:spcBef>
                <a:spcPts val="0"/>
              </a:spcBef>
              <a:spcAft>
                <a:spcPts val="0"/>
              </a:spcAft>
              <a:buNone/>
            </a:pPr>
            <a:endParaRPr sz="900">
              <a:solidFill>
                <a:schemeClr val="dk1"/>
              </a:solidFill>
              <a:latin typeface="Calibri"/>
              <a:ea typeface="Calibri"/>
              <a:cs typeface="Calibri"/>
              <a:sym typeface="Calibri"/>
            </a:endParaRPr>
          </a:p>
        </p:txBody>
      </p:sp>
      <p:sp>
        <p:nvSpPr>
          <p:cNvPr id="61" name="Google Shape;61;p14"/>
          <p:cNvSpPr/>
          <p:nvPr/>
        </p:nvSpPr>
        <p:spPr>
          <a:xfrm>
            <a:off x="6724399" y="306011"/>
            <a:ext cx="2119978" cy="380715"/>
          </a:xfrm>
          <a:custGeom>
            <a:avLst/>
            <a:gdLst/>
            <a:ahLst/>
            <a:cxnLst/>
            <a:rect l="l" t="t" r="r" b="b"/>
            <a:pathLst>
              <a:path w="4239955" h="761429" extrusionOk="0">
                <a:moveTo>
                  <a:pt x="0" y="0"/>
                </a:moveTo>
                <a:lnTo>
                  <a:pt x="4239955" y="0"/>
                </a:lnTo>
                <a:lnTo>
                  <a:pt x="4239955" y="761429"/>
                </a:lnTo>
                <a:lnTo>
                  <a:pt x="0" y="761429"/>
                </a:lnTo>
                <a:lnTo>
                  <a:pt x="0" y="0"/>
                </a:lnTo>
                <a:close/>
              </a:path>
            </a:pathLst>
          </a:custGeom>
          <a:blipFill rotWithShape="1">
            <a:blip r:embed="rId4">
              <a:alphaModFix/>
            </a:blip>
            <a:stretch>
              <a:fillRect/>
            </a:stretch>
          </a:blipFill>
          <a:ln>
            <a:noFill/>
          </a:ln>
        </p:spPr>
        <p:txBody>
          <a:bodyPr spcFirstLastPara="1" wrap="square" lIns="45725" tIns="22850" rIns="45725" bIns="22850" anchor="t" anchorCtr="0">
            <a:noAutofit/>
          </a:bodyPr>
          <a:lstStyle/>
          <a:p>
            <a:pPr marL="0" marR="0" lvl="0" indent="0" algn="l" rtl="0">
              <a:spcBef>
                <a:spcPts val="0"/>
              </a:spcBef>
              <a:spcAft>
                <a:spcPts val="0"/>
              </a:spcAft>
              <a:buNone/>
            </a:pPr>
            <a:endParaRPr sz="900">
              <a:solidFill>
                <a:schemeClr val="dk1"/>
              </a:solidFill>
              <a:latin typeface="Calibri"/>
              <a:ea typeface="Calibri"/>
              <a:cs typeface="Calibri"/>
              <a:sym typeface="Calibri"/>
            </a:endParaRPr>
          </a:p>
        </p:txBody>
      </p:sp>
      <p:sp>
        <p:nvSpPr>
          <p:cNvPr id="62" name="Google Shape;62;p14"/>
          <p:cNvSpPr txBox="1"/>
          <p:nvPr/>
        </p:nvSpPr>
        <p:spPr>
          <a:xfrm>
            <a:off x="379290" y="3738130"/>
            <a:ext cx="3356400" cy="452432"/>
          </a:xfrm>
          <a:prstGeom prst="rect">
            <a:avLst/>
          </a:prstGeom>
          <a:noFill/>
          <a:ln>
            <a:noFill/>
          </a:ln>
        </p:spPr>
        <p:txBody>
          <a:bodyPr spcFirstLastPara="1" wrap="square" lIns="0" tIns="0" rIns="0" bIns="0" anchor="t" anchorCtr="0">
            <a:spAutoFit/>
          </a:bodyPr>
          <a:lstStyle/>
          <a:p>
            <a:pPr marL="0" marR="0" lvl="0" indent="0" algn="l" rtl="0">
              <a:lnSpc>
                <a:spcPct val="147067"/>
              </a:lnSpc>
              <a:spcBef>
                <a:spcPts val="0"/>
              </a:spcBef>
              <a:spcAft>
                <a:spcPts val="0"/>
              </a:spcAft>
              <a:buNone/>
            </a:pPr>
            <a:r>
              <a:rPr lang="en" sz="1000" b="1" dirty="0">
                <a:solidFill>
                  <a:srgbClr val="725C38"/>
                </a:solidFill>
                <a:latin typeface="Montserrat"/>
                <a:ea typeface="Montserrat"/>
                <a:cs typeface="Montserrat"/>
                <a:sym typeface="Montserrat"/>
              </a:rPr>
              <a:t>Presented By:  Vasanth Kumar Mekala</a:t>
            </a:r>
          </a:p>
          <a:p>
            <a:pPr marL="0" marR="0" lvl="0" indent="0" algn="l" rtl="0">
              <a:lnSpc>
                <a:spcPct val="147067"/>
              </a:lnSpc>
              <a:spcBef>
                <a:spcPts val="0"/>
              </a:spcBef>
              <a:spcAft>
                <a:spcPts val="0"/>
              </a:spcAft>
              <a:buNone/>
            </a:pPr>
            <a:r>
              <a:rPr lang="en" sz="1000" b="1">
                <a:solidFill>
                  <a:srgbClr val="725C38"/>
                </a:solidFill>
                <a:latin typeface="Montserrat"/>
                <a:sym typeface="Montserrat"/>
              </a:rPr>
              <a:t>Git Hub Link: </a:t>
            </a:r>
          </a:p>
        </p:txBody>
      </p:sp>
      <p:sp>
        <p:nvSpPr>
          <p:cNvPr id="63" name="Google Shape;63;p14"/>
          <p:cNvSpPr txBox="1"/>
          <p:nvPr/>
        </p:nvSpPr>
        <p:spPr>
          <a:xfrm>
            <a:off x="379289" y="1764476"/>
            <a:ext cx="8061325" cy="714042"/>
          </a:xfrm>
          <a:prstGeom prst="rect">
            <a:avLst/>
          </a:prstGeom>
          <a:noFill/>
          <a:ln>
            <a:noFill/>
          </a:ln>
        </p:spPr>
        <p:txBody>
          <a:bodyPr spcFirstLastPara="1" wrap="square" lIns="0" tIns="0" rIns="0" bIns="0" anchor="t" anchorCtr="0">
            <a:spAutoFit/>
          </a:bodyPr>
          <a:lstStyle/>
          <a:p>
            <a:pPr marL="0" marR="0" lvl="0" indent="0" algn="just" rtl="0">
              <a:lnSpc>
                <a:spcPct val="115966"/>
              </a:lnSpc>
              <a:spcBef>
                <a:spcPts val="0"/>
              </a:spcBef>
              <a:spcAft>
                <a:spcPts val="0"/>
              </a:spcAft>
              <a:buNone/>
            </a:pPr>
            <a:r>
              <a:rPr lang="en" sz="2000" i="1" dirty="0">
                <a:solidFill>
                  <a:srgbClr val="725C38"/>
                </a:solidFill>
                <a:latin typeface="Times New Roman" panose="02020603050405020304" pitchFamily="18" charset="0"/>
                <a:cs typeface="Times New Roman" panose="02020603050405020304" pitchFamily="18" charset="0"/>
              </a:rPr>
              <a:t>Tittle : Early warning system for bankrupt prediction by using machine learning methods </a:t>
            </a:r>
            <a:endParaRPr sz="2000" dirty="0">
              <a:latin typeface="Times New Roman" panose="02020603050405020304" pitchFamily="18" charset="0"/>
              <a:cs typeface="Times New Roman" panose="02020603050405020304" pitchFamily="18" charset="0"/>
            </a:endParaRPr>
          </a:p>
        </p:txBody>
      </p:sp>
      <p:sp>
        <p:nvSpPr>
          <p:cNvPr id="64" name="Google Shape;64;p14"/>
          <p:cNvSpPr txBox="1"/>
          <p:nvPr/>
        </p:nvSpPr>
        <p:spPr>
          <a:xfrm>
            <a:off x="379290" y="686726"/>
            <a:ext cx="2313668" cy="637097"/>
          </a:xfrm>
          <a:prstGeom prst="rect">
            <a:avLst/>
          </a:prstGeom>
          <a:noFill/>
          <a:ln>
            <a:noFill/>
          </a:ln>
        </p:spPr>
        <p:txBody>
          <a:bodyPr spcFirstLastPara="1" wrap="square" lIns="0" tIns="0" rIns="0" bIns="0" anchor="t" anchorCtr="0">
            <a:spAutoFit/>
          </a:bodyPr>
          <a:lstStyle/>
          <a:p>
            <a:pPr marL="0" marR="0" lvl="0" indent="0" algn="ctr" rtl="0">
              <a:lnSpc>
                <a:spcPct val="138000"/>
              </a:lnSpc>
              <a:spcBef>
                <a:spcPts val="0"/>
              </a:spcBef>
              <a:spcAft>
                <a:spcPts val="0"/>
              </a:spcAft>
              <a:buNone/>
            </a:pPr>
            <a:r>
              <a:rPr lang="en" sz="3000" b="1" dirty="0">
                <a:solidFill>
                  <a:srgbClr val="725C38"/>
                </a:solidFill>
                <a:latin typeface="Montserrat"/>
                <a:sym typeface="Montserrat"/>
              </a:rPr>
              <a:t>PDM Plan</a:t>
            </a:r>
            <a:endParaRPr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5"/>
          <p:cNvSpPr/>
          <p:nvPr/>
        </p:nvSpPr>
        <p:spPr>
          <a:xfrm>
            <a:off x="0" y="4222864"/>
            <a:ext cx="2319251" cy="920635"/>
          </a:xfrm>
          <a:custGeom>
            <a:avLst/>
            <a:gdLst/>
            <a:ahLst/>
            <a:cxnLst/>
            <a:rect l="l" t="t" r="r" b="b"/>
            <a:pathLst>
              <a:path w="14057680" h="8229600" extrusionOk="0">
                <a:moveTo>
                  <a:pt x="0" y="0"/>
                </a:moveTo>
                <a:lnTo>
                  <a:pt x="14057680" y="0"/>
                </a:lnTo>
                <a:lnTo>
                  <a:pt x="14057680" y="8229600"/>
                </a:lnTo>
                <a:lnTo>
                  <a:pt x="0" y="8229600"/>
                </a:lnTo>
                <a:lnTo>
                  <a:pt x="0" y="0"/>
                </a:lnTo>
                <a:close/>
              </a:path>
            </a:pathLst>
          </a:custGeom>
          <a:blipFill rotWithShape="1">
            <a:blip r:embed="rId3">
              <a:alphaModFix/>
            </a:blip>
            <a:stretch>
              <a:fillRect/>
            </a:stretch>
          </a:blipFill>
          <a:ln>
            <a:noFill/>
          </a:ln>
        </p:spPr>
        <p:txBody>
          <a:bodyPr spcFirstLastPara="1" wrap="square" lIns="45725" tIns="22850" rIns="45725" bIns="22850" anchor="t" anchorCtr="0">
            <a:noAutofit/>
          </a:bodyPr>
          <a:lstStyle/>
          <a:p>
            <a:pPr marL="0" marR="0" lvl="0" indent="0" algn="l" rtl="0">
              <a:spcBef>
                <a:spcPts val="0"/>
              </a:spcBef>
              <a:spcAft>
                <a:spcPts val="0"/>
              </a:spcAft>
              <a:buNone/>
            </a:pPr>
            <a:endParaRPr sz="900">
              <a:solidFill>
                <a:schemeClr val="dk1"/>
              </a:solidFill>
              <a:latin typeface="Calibri"/>
              <a:ea typeface="Calibri"/>
              <a:cs typeface="Calibri"/>
              <a:sym typeface="Calibri"/>
            </a:endParaRPr>
          </a:p>
        </p:txBody>
      </p:sp>
      <p:sp>
        <p:nvSpPr>
          <p:cNvPr id="74" name="Google Shape;74;p15"/>
          <p:cNvSpPr txBox="1"/>
          <p:nvPr/>
        </p:nvSpPr>
        <p:spPr>
          <a:xfrm>
            <a:off x="514350" y="1183741"/>
            <a:ext cx="7835830" cy="1388009"/>
          </a:xfrm>
          <a:prstGeom prst="rect">
            <a:avLst/>
          </a:prstGeom>
          <a:noFill/>
          <a:ln>
            <a:noFill/>
          </a:ln>
        </p:spPr>
        <p:txBody>
          <a:bodyPr spcFirstLastPara="1" wrap="square" lIns="0" tIns="0" rIns="0" bIns="0" anchor="t" anchorCtr="0">
            <a:spAutoFit/>
          </a:bodyPr>
          <a:lstStyle/>
          <a:p>
            <a:pPr marL="171450" lvl="0" indent="-171450" algn="just">
              <a:lnSpc>
                <a:spcPct val="164000"/>
              </a:lnSpc>
              <a:buFont typeface="Wingdings" pitchFamily="2" charset="2"/>
              <a:buChar char="Ø"/>
            </a:pPr>
            <a:r>
              <a:rPr lang="en-GB" sz="1200" dirty="0">
                <a:latin typeface="Times New Roman" panose="02020603050405020304" pitchFamily="18" charset="0"/>
                <a:cs typeface="Times New Roman" panose="02020603050405020304" pitchFamily="18" charset="0"/>
              </a:rPr>
              <a:t>Bankruptcy is a financial event that can have harsh consequences for stakeholders, including creditors, regulatory institutions, employees, and investors.</a:t>
            </a:r>
          </a:p>
          <a:p>
            <a:pPr marL="171450" indent="-171450" algn="just">
              <a:lnSpc>
                <a:spcPct val="164000"/>
              </a:lnSpc>
              <a:buFont typeface="Wingdings" pitchFamily="2" charset="2"/>
              <a:buChar char="Ø"/>
            </a:pPr>
            <a:r>
              <a:rPr lang="en-GB" sz="1200" dirty="0">
                <a:latin typeface="Times New Roman" panose="02020603050405020304" pitchFamily="18" charset="0"/>
                <a:cs typeface="Times New Roman" panose="02020603050405020304" pitchFamily="18" charset="0"/>
              </a:rPr>
              <a:t>In such circumstances, bankruptcy prediction plays a significant role in supporting economic growth and maintaining financial stability.</a:t>
            </a:r>
          </a:p>
          <a:p>
            <a:pPr lvl="0" algn="just">
              <a:lnSpc>
                <a:spcPct val="164000"/>
              </a:lnSpc>
            </a:pPr>
            <a:endParaRPr sz="700" dirty="0"/>
          </a:p>
        </p:txBody>
      </p:sp>
      <p:sp>
        <p:nvSpPr>
          <p:cNvPr id="76" name="Google Shape;76;p15"/>
          <p:cNvSpPr txBox="1"/>
          <p:nvPr/>
        </p:nvSpPr>
        <p:spPr>
          <a:xfrm>
            <a:off x="514350" y="472796"/>
            <a:ext cx="4684500" cy="461700"/>
          </a:xfrm>
          <a:prstGeom prst="rect">
            <a:avLst/>
          </a:prstGeom>
          <a:noFill/>
          <a:ln>
            <a:noFill/>
          </a:ln>
        </p:spPr>
        <p:txBody>
          <a:bodyPr spcFirstLastPara="1" wrap="square" lIns="0" tIns="0" rIns="0" bIns="0" anchor="t" anchorCtr="0">
            <a:spAutoFit/>
          </a:bodyPr>
          <a:lstStyle/>
          <a:p>
            <a:pPr marL="0" marR="0" lvl="0" indent="0" algn="l" rtl="0">
              <a:lnSpc>
                <a:spcPct val="115983"/>
              </a:lnSpc>
              <a:spcBef>
                <a:spcPts val="0"/>
              </a:spcBef>
              <a:spcAft>
                <a:spcPts val="0"/>
              </a:spcAft>
              <a:buNone/>
            </a:pPr>
            <a:r>
              <a:rPr lang="en" sz="3000" b="1" dirty="0">
                <a:solidFill>
                  <a:srgbClr val="9A5C2E"/>
                </a:solidFill>
                <a:latin typeface="Arial"/>
                <a:ea typeface="Arial"/>
                <a:cs typeface="Arial"/>
                <a:sym typeface="Arial"/>
              </a:rPr>
              <a:t>INTRODUCTION</a:t>
            </a:r>
            <a:endParaRPr sz="700" dirty="0"/>
          </a:p>
        </p:txBody>
      </p:sp>
      <p:sp>
        <p:nvSpPr>
          <p:cNvPr id="77" name="Google Shape;77;p15"/>
          <p:cNvSpPr/>
          <p:nvPr/>
        </p:nvSpPr>
        <p:spPr>
          <a:xfrm>
            <a:off x="6899564" y="0"/>
            <a:ext cx="2244436" cy="1088967"/>
          </a:xfrm>
          <a:custGeom>
            <a:avLst/>
            <a:gdLst/>
            <a:ahLst/>
            <a:cxnLst/>
            <a:rect l="l" t="t" r="r" b="b"/>
            <a:pathLst>
              <a:path w="14057680" h="8229600" extrusionOk="0">
                <a:moveTo>
                  <a:pt x="0" y="0"/>
                </a:moveTo>
                <a:lnTo>
                  <a:pt x="14057680" y="0"/>
                </a:lnTo>
                <a:lnTo>
                  <a:pt x="14057680" y="8229600"/>
                </a:lnTo>
                <a:lnTo>
                  <a:pt x="0" y="8229600"/>
                </a:lnTo>
                <a:lnTo>
                  <a:pt x="0" y="0"/>
                </a:lnTo>
                <a:close/>
              </a:path>
            </a:pathLst>
          </a:custGeom>
          <a:blipFill rotWithShape="1">
            <a:blip r:embed="rId3">
              <a:alphaModFix/>
            </a:blip>
            <a:stretch>
              <a:fillRect/>
            </a:stretch>
          </a:blipFill>
          <a:ln>
            <a:noFill/>
          </a:ln>
        </p:spPr>
        <p:txBody>
          <a:bodyPr spcFirstLastPara="1" wrap="square" lIns="45725" tIns="22850" rIns="45725" bIns="22850" anchor="t" anchorCtr="0">
            <a:noAutofit/>
          </a:bodyPr>
          <a:lstStyle/>
          <a:p>
            <a:pPr marL="0" marR="0" lvl="0" indent="0" algn="l" rtl="0">
              <a:spcBef>
                <a:spcPts val="0"/>
              </a:spcBef>
              <a:spcAft>
                <a:spcPts val="0"/>
              </a:spcAft>
              <a:buNone/>
            </a:pPr>
            <a:endParaRPr sz="900">
              <a:solidFill>
                <a:schemeClr val="dk1"/>
              </a:solidFill>
              <a:latin typeface="Calibri"/>
              <a:ea typeface="Calibri"/>
              <a:cs typeface="Calibri"/>
              <a:sym typeface="Calibri"/>
            </a:endParaRPr>
          </a:p>
        </p:txBody>
      </p:sp>
      <p:sp>
        <p:nvSpPr>
          <p:cNvPr id="3" name="TextBox 2">
            <a:extLst>
              <a:ext uri="{FF2B5EF4-FFF2-40B4-BE49-F238E27FC236}">
                <a16:creationId xmlns:a16="http://schemas.microsoft.com/office/drawing/2014/main" id="{C86A7DD4-4045-42F8-5D17-9D23430F7AF5}"/>
              </a:ext>
            </a:extLst>
          </p:cNvPr>
          <p:cNvSpPr txBox="1"/>
          <p:nvPr/>
        </p:nvSpPr>
        <p:spPr>
          <a:xfrm>
            <a:off x="514350" y="2457267"/>
            <a:ext cx="5642149" cy="418513"/>
          </a:xfrm>
          <a:prstGeom prst="rect">
            <a:avLst/>
          </a:prstGeom>
          <a:noFill/>
        </p:spPr>
        <p:txBody>
          <a:bodyPr wrap="square">
            <a:spAutoFit/>
          </a:bodyPr>
          <a:lstStyle/>
          <a:p>
            <a:pPr marL="0" marR="0" lvl="0" indent="0" algn="l" rtl="0">
              <a:lnSpc>
                <a:spcPct val="115983"/>
              </a:lnSpc>
              <a:spcBef>
                <a:spcPts val="0"/>
              </a:spcBef>
              <a:spcAft>
                <a:spcPts val="0"/>
              </a:spcAft>
              <a:buNone/>
            </a:pPr>
            <a:r>
              <a:rPr lang="en-IN" sz="2000" b="1" dirty="0">
                <a:solidFill>
                  <a:srgbClr val="9A5C2E"/>
                </a:solidFill>
              </a:rPr>
              <a:t>Aim and Research Question </a:t>
            </a:r>
            <a:endParaRPr lang="en-IN" sz="2000" dirty="0"/>
          </a:p>
        </p:txBody>
      </p:sp>
      <p:sp>
        <p:nvSpPr>
          <p:cNvPr id="4" name="Google Shape;74;p15">
            <a:extLst>
              <a:ext uri="{FF2B5EF4-FFF2-40B4-BE49-F238E27FC236}">
                <a16:creationId xmlns:a16="http://schemas.microsoft.com/office/drawing/2014/main" id="{280AB2C4-0B8B-3471-DEA0-B2D9146C4294}"/>
              </a:ext>
            </a:extLst>
          </p:cNvPr>
          <p:cNvSpPr txBox="1"/>
          <p:nvPr/>
        </p:nvSpPr>
        <p:spPr>
          <a:xfrm>
            <a:off x="514350" y="2747443"/>
            <a:ext cx="7835830" cy="2195666"/>
          </a:xfrm>
          <a:prstGeom prst="rect">
            <a:avLst/>
          </a:prstGeom>
          <a:noFill/>
          <a:ln>
            <a:noFill/>
          </a:ln>
        </p:spPr>
        <p:txBody>
          <a:bodyPr spcFirstLastPara="1" wrap="square" lIns="0" tIns="0" rIns="0" bIns="0" anchor="t" anchorCtr="0">
            <a:spAutoFit/>
          </a:bodyPr>
          <a:lstStyle/>
          <a:p>
            <a:pPr lvl="0" algn="just">
              <a:lnSpc>
                <a:spcPct val="164000"/>
              </a:lnSpc>
            </a:pPr>
            <a:r>
              <a:rPr lang="en-GB" sz="1600" b="1" dirty="0">
                <a:latin typeface="Times New Roman" panose="02020603050405020304" pitchFamily="18" charset="0"/>
                <a:cs typeface="Times New Roman" panose="02020603050405020304" pitchFamily="18" charset="0"/>
              </a:rPr>
              <a:t>Aim: </a:t>
            </a:r>
          </a:p>
          <a:p>
            <a:pPr marL="171450" lvl="0" indent="-171450" algn="just">
              <a:lnSpc>
                <a:spcPct val="164000"/>
              </a:lnSpc>
              <a:buFont typeface="Wingdings" pitchFamily="2" charset="2"/>
              <a:buChar char="Ø"/>
            </a:pPr>
            <a:r>
              <a:rPr lang="en-GB" sz="1200" dirty="0">
                <a:latin typeface="Times New Roman" panose="02020603050405020304" pitchFamily="18" charset="0"/>
                <a:cs typeface="Times New Roman" panose="02020603050405020304" pitchFamily="18" charset="0"/>
              </a:rPr>
              <a:t>The main aim to develop bankrupt predictive system to identify the companies that are at risk before it happens.</a:t>
            </a:r>
          </a:p>
          <a:p>
            <a:pPr algn="just">
              <a:lnSpc>
                <a:spcPct val="164000"/>
              </a:lnSpc>
            </a:pPr>
            <a:r>
              <a:rPr lang="en-GB" sz="1600" b="1" dirty="0">
                <a:latin typeface="Times New Roman" panose="02020603050405020304" pitchFamily="18" charset="0"/>
                <a:cs typeface="Times New Roman" panose="02020603050405020304" pitchFamily="18" charset="0"/>
              </a:rPr>
              <a:t>Research Question: </a:t>
            </a:r>
          </a:p>
          <a:p>
            <a:pPr marL="171450" indent="-171450" algn="just">
              <a:lnSpc>
                <a:spcPct val="164000"/>
              </a:lnSpc>
              <a:buFont typeface="Wingdings" pitchFamily="2" charset="2"/>
              <a:buChar char="Ø"/>
            </a:pPr>
            <a:r>
              <a:rPr lang="en-GB" sz="1200" dirty="0">
                <a:latin typeface="Times New Roman" panose="02020603050405020304" pitchFamily="18" charset="0"/>
                <a:cs typeface="Times New Roman" panose="02020603050405020304" pitchFamily="18" charset="0"/>
              </a:rPr>
              <a:t>Can Machine learning models accurately predict company bankruptcy based on corporate governance indicators and the financial ratios?</a:t>
            </a:r>
            <a:endParaRPr lang="en-US" sz="1200" dirty="0">
              <a:latin typeface="Times New Roman" panose="02020603050405020304" pitchFamily="18" charset="0"/>
              <a:cs typeface="Times New Roman" panose="02020603050405020304" pitchFamily="18" charset="0"/>
            </a:endParaRPr>
          </a:p>
          <a:p>
            <a:pPr algn="just">
              <a:lnSpc>
                <a:spcPct val="164000"/>
              </a:lnSpc>
            </a:pPr>
            <a:endParaRPr lang="en-GB" sz="1200" dirty="0">
              <a:latin typeface="Times New Roman" panose="02020603050405020304" pitchFamily="18" charset="0"/>
              <a:cs typeface="Times New Roman" panose="02020603050405020304" pitchFamily="18" charset="0"/>
            </a:endParaRPr>
          </a:p>
          <a:p>
            <a:pPr lvl="0" algn="just">
              <a:lnSpc>
                <a:spcPct val="164000"/>
              </a:lnSpc>
            </a:pPr>
            <a:endParaRPr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6"/>
          <p:cNvSpPr txBox="1"/>
          <p:nvPr/>
        </p:nvSpPr>
        <p:spPr>
          <a:xfrm>
            <a:off x="528558" y="1821375"/>
            <a:ext cx="6761704" cy="979627"/>
          </a:xfrm>
          <a:prstGeom prst="rect">
            <a:avLst/>
          </a:prstGeom>
          <a:noFill/>
          <a:ln>
            <a:noFill/>
          </a:ln>
        </p:spPr>
        <p:txBody>
          <a:bodyPr spcFirstLastPara="1" wrap="square" lIns="0" tIns="0" rIns="0" bIns="0" anchor="t" anchorCtr="0">
            <a:spAutoFit/>
          </a:bodyPr>
          <a:lstStyle/>
          <a:p>
            <a:pPr marL="171450" marR="0" lvl="0" indent="-171450" algn="just" rtl="0">
              <a:lnSpc>
                <a:spcPct val="150000"/>
              </a:lnSpc>
              <a:spcBef>
                <a:spcPts val="0"/>
              </a:spcBef>
              <a:spcAft>
                <a:spcPts val="0"/>
              </a:spcAft>
              <a:buFont typeface="Wingdings" pitchFamily="2" charset="2"/>
              <a:buChar char="Ø"/>
            </a:pPr>
            <a:r>
              <a:rPr lang="en-IN" sz="1200" dirty="0">
                <a:solidFill>
                  <a:schemeClr val="tx1"/>
                </a:solidFill>
                <a:latin typeface="Times New Roman" panose="02020603050405020304" pitchFamily="18" charset="0"/>
                <a:ea typeface="Montserrat Medium"/>
                <a:cs typeface="Times New Roman" panose="02020603050405020304" pitchFamily="18" charset="0"/>
                <a:sym typeface="Montserrat Medium"/>
              </a:rPr>
              <a:t>T</a:t>
            </a:r>
            <a:r>
              <a:rPr lang="en" sz="1200" dirty="0">
                <a:solidFill>
                  <a:schemeClr val="tx1"/>
                </a:solidFill>
                <a:latin typeface="Times New Roman" panose="02020603050405020304" pitchFamily="18" charset="0"/>
                <a:ea typeface="Montserrat Medium"/>
                <a:cs typeface="Times New Roman" panose="02020603050405020304" pitchFamily="18" charset="0"/>
                <a:sym typeface="Montserrat Medium"/>
              </a:rPr>
              <a:t>he Data set obtained from </a:t>
            </a:r>
            <a:r>
              <a:rPr lang="en-IN" sz="1200" dirty="0">
                <a:solidFill>
                  <a:schemeClr val="tx1"/>
                </a:solidFill>
                <a:latin typeface="Times New Roman" panose="02020603050405020304" pitchFamily="18" charset="0"/>
                <a:ea typeface="Montserrat Medium"/>
                <a:cs typeface="Times New Roman" panose="02020603050405020304" pitchFamily="18" charset="0"/>
                <a:sym typeface="Montserrat Medium"/>
              </a:rPr>
              <a:t>K</a:t>
            </a:r>
            <a:r>
              <a:rPr lang="en" sz="1200" dirty="0" err="1">
                <a:solidFill>
                  <a:schemeClr val="tx1"/>
                </a:solidFill>
                <a:latin typeface="Times New Roman" panose="02020603050405020304" pitchFamily="18" charset="0"/>
                <a:ea typeface="Montserrat Medium"/>
                <a:cs typeface="Times New Roman" panose="02020603050405020304" pitchFamily="18" charset="0"/>
                <a:sym typeface="Montserrat Medium"/>
              </a:rPr>
              <a:t>aggle</a:t>
            </a:r>
            <a:r>
              <a:rPr lang="en" sz="1200" dirty="0">
                <a:solidFill>
                  <a:schemeClr val="tx1"/>
                </a:solidFill>
                <a:latin typeface="Times New Roman" panose="02020603050405020304" pitchFamily="18" charset="0"/>
                <a:ea typeface="Montserrat Medium"/>
                <a:cs typeface="Times New Roman" panose="02020603050405020304" pitchFamily="18" charset="0"/>
                <a:sym typeface="Montserrat Medium"/>
              </a:rPr>
              <a:t>, a publicly available free to use.</a:t>
            </a:r>
          </a:p>
          <a:p>
            <a:pPr marL="171450" lvl="0" indent="-171450" algn="just">
              <a:lnSpc>
                <a:spcPct val="150000"/>
              </a:lnSpc>
              <a:buFont typeface="Wingdings" pitchFamily="2" charset="2"/>
              <a:buChar char="Ø"/>
            </a:pPr>
            <a:r>
              <a:rPr lang="en-IN" sz="1200" dirty="0">
                <a:solidFill>
                  <a:schemeClr val="tx1"/>
                </a:solidFill>
                <a:latin typeface="Times New Roman" panose="02020603050405020304" pitchFamily="18" charset="0"/>
                <a:ea typeface="Montserrat Medium"/>
                <a:cs typeface="Times New Roman" panose="02020603050405020304" pitchFamily="18" charset="0"/>
                <a:sym typeface="Montserrat Medium"/>
              </a:rPr>
              <a:t>I</a:t>
            </a:r>
            <a:r>
              <a:rPr lang="en" sz="1200" dirty="0">
                <a:solidFill>
                  <a:schemeClr val="tx1"/>
                </a:solidFill>
                <a:latin typeface="Times New Roman" panose="02020603050405020304" pitchFamily="18" charset="0"/>
                <a:ea typeface="Montserrat Medium"/>
                <a:cs typeface="Times New Roman" panose="02020603050405020304" pitchFamily="18" charset="0"/>
                <a:sym typeface="Montserrat Medium"/>
              </a:rPr>
              <a:t>t consisting of 6819 entries with 96 columns  which are financial metrics like before interest and % after tax, operating gross margin, operating profit rate, tax rate, net value for share and etc.</a:t>
            </a:r>
            <a:r>
              <a:rPr lang="en-IN" sz="1200" dirty="0">
                <a:solidFill>
                  <a:schemeClr val="tx1"/>
                </a:solidFill>
                <a:latin typeface="Times New Roman" panose="02020603050405020304" pitchFamily="18" charset="0"/>
                <a:cs typeface="Times New Roman" panose="02020603050405020304" pitchFamily="18" charset="0"/>
              </a:rPr>
              <a:t> </a:t>
            </a:r>
            <a:endParaRPr lang="en" sz="1200" dirty="0">
              <a:solidFill>
                <a:schemeClr val="tx1"/>
              </a:solidFill>
              <a:latin typeface="Times New Roman" panose="02020603050405020304" pitchFamily="18" charset="0"/>
              <a:ea typeface="Montserrat Medium"/>
              <a:cs typeface="Times New Roman" panose="02020603050405020304" pitchFamily="18" charset="0"/>
              <a:sym typeface="Montserrat Medium"/>
            </a:endParaRPr>
          </a:p>
          <a:p>
            <a:pPr marL="0" marR="0" lvl="0" indent="0" algn="just" rtl="0">
              <a:lnSpc>
                <a:spcPct val="138000"/>
              </a:lnSpc>
              <a:spcBef>
                <a:spcPts val="0"/>
              </a:spcBef>
              <a:spcAft>
                <a:spcPts val="0"/>
              </a:spcAft>
              <a:buNone/>
            </a:pPr>
            <a:endParaRPr sz="700" dirty="0"/>
          </a:p>
        </p:txBody>
      </p:sp>
      <p:sp>
        <p:nvSpPr>
          <p:cNvPr id="88" name="Google Shape;88;p16"/>
          <p:cNvSpPr txBox="1"/>
          <p:nvPr/>
        </p:nvSpPr>
        <p:spPr>
          <a:xfrm>
            <a:off x="528559" y="896223"/>
            <a:ext cx="6084600" cy="461700"/>
          </a:xfrm>
          <a:prstGeom prst="rect">
            <a:avLst/>
          </a:prstGeom>
          <a:noFill/>
          <a:ln>
            <a:noFill/>
          </a:ln>
        </p:spPr>
        <p:txBody>
          <a:bodyPr spcFirstLastPara="1" wrap="square" lIns="0" tIns="0" rIns="0" bIns="0" anchor="t" anchorCtr="0">
            <a:spAutoFit/>
          </a:bodyPr>
          <a:lstStyle/>
          <a:p>
            <a:pPr marL="0" marR="0" lvl="0" indent="0" algn="l" rtl="0">
              <a:lnSpc>
                <a:spcPct val="115983"/>
              </a:lnSpc>
              <a:spcBef>
                <a:spcPts val="0"/>
              </a:spcBef>
              <a:spcAft>
                <a:spcPts val="0"/>
              </a:spcAft>
              <a:buNone/>
            </a:pPr>
            <a:r>
              <a:rPr lang="en" sz="3000" b="1" dirty="0">
                <a:solidFill>
                  <a:srgbClr val="9A5C2E"/>
                </a:solidFill>
                <a:latin typeface="Arial"/>
                <a:ea typeface="Arial"/>
                <a:cs typeface="Arial"/>
                <a:sym typeface="Arial"/>
              </a:rPr>
              <a:t>DATASET DESCRIPTION</a:t>
            </a:r>
            <a:endParaRPr sz="700" dirty="0"/>
          </a:p>
        </p:txBody>
      </p:sp>
      <p:sp>
        <p:nvSpPr>
          <p:cNvPr id="90" name="Google Shape;90;p16"/>
          <p:cNvSpPr/>
          <p:nvPr/>
        </p:nvSpPr>
        <p:spPr>
          <a:xfrm>
            <a:off x="0" y="3633782"/>
            <a:ext cx="4575335" cy="1477335"/>
          </a:xfrm>
          <a:custGeom>
            <a:avLst/>
            <a:gdLst/>
            <a:ahLst/>
            <a:cxnLst/>
            <a:rect l="l" t="t" r="r" b="b"/>
            <a:pathLst>
              <a:path w="14057680" h="8229600" extrusionOk="0">
                <a:moveTo>
                  <a:pt x="0" y="0"/>
                </a:moveTo>
                <a:lnTo>
                  <a:pt x="14057680" y="0"/>
                </a:lnTo>
                <a:lnTo>
                  <a:pt x="14057680" y="8229600"/>
                </a:lnTo>
                <a:lnTo>
                  <a:pt x="0" y="8229600"/>
                </a:lnTo>
                <a:lnTo>
                  <a:pt x="0" y="0"/>
                </a:lnTo>
                <a:close/>
              </a:path>
            </a:pathLst>
          </a:custGeom>
          <a:blipFill rotWithShape="1">
            <a:blip r:embed="rId3">
              <a:alphaModFix/>
            </a:blip>
            <a:stretch>
              <a:fillRect/>
            </a:stretch>
          </a:blipFill>
          <a:ln>
            <a:noFill/>
          </a:ln>
        </p:spPr>
        <p:txBody>
          <a:bodyPr spcFirstLastPara="1" wrap="square" lIns="45725" tIns="22850" rIns="45725" bIns="22850" anchor="t" anchorCtr="0">
            <a:noAutofit/>
          </a:bodyPr>
          <a:lstStyle/>
          <a:p>
            <a:pPr marL="0" marR="0" lvl="0" indent="0" algn="l" rtl="0">
              <a:spcBef>
                <a:spcPts val="0"/>
              </a:spcBef>
              <a:spcAft>
                <a:spcPts val="0"/>
              </a:spcAft>
              <a:buNone/>
            </a:pPr>
            <a:endParaRPr sz="9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grpSp>
        <p:nvGrpSpPr>
          <p:cNvPr id="99" name="Google Shape;99;p17"/>
          <p:cNvGrpSpPr/>
          <p:nvPr/>
        </p:nvGrpSpPr>
        <p:grpSpPr>
          <a:xfrm>
            <a:off x="317991" y="1439678"/>
            <a:ext cx="589764" cy="710681"/>
            <a:chOff x="0" y="-85725"/>
            <a:chExt cx="367500" cy="442847"/>
          </a:xfrm>
        </p:grpSpPr>
        <p:sp>
          <p:nvSpPr>
            <p:cNvPr id="100" name="Google Shape;100;p17"/>
            <p:cNvSpPr/>
            <p:nvPr/>
          </p:nvSpPr>
          <p:spPr>
            <a:xfrm>
              <a:off x="0" y="0"/>
              <a:ext cx="367355" cy="357122"/>
            </a:xfrm>
            <a:custGeom>
              <a:avLst/>
              <a:gdLst/>
              <a:ahLst/>
              <a:cxnLst/>
              <a:rect l="l" t="t" r="r" b="b"/>
              <a:pathLst>
                <a:path w="367355" h="357122" extrusionOk="0">
                  <a:moveTo>
                    <a:pt x="111623" y="0"/>
                  </a:moveTo>
                  <a:lnTo>
                    <a:pt x="255732" y="0"/>
                  </a:lnTo>
                  <a:cubicBezTo>
                    <a:pt x="285337" y="0"/>
                    <a:pt x="313728" y="11760"/>
                    <a:pt x="334662" y="32694"/>
                  </a:cubicBezTo>
                  <a:cubicBezTo>
                    <a:pt x="355595" y="53627"/>
                    <a:pt x="367355" y="82019"/>
                    <a:pt x="367355" y="111623"/>
                  </a:cubicBezTo>
                  <a:lnTo>
                    <a:pt x="367355" y="245499"/>
                  </a:lnTo>
                  <a:cubicBezTo>
                    <a:pt x="367355" y="275103"/>
                    <a:pt x="355595" y="303495"/>
                    <a:pt x="334662" y="324429"/>
                  </a:cubicBezTo>
                  <a:cubicBezTo>
                    <a:pt x="313728" y="345362"/>
                    <a:pt x="285337" y="357122"/>
                    <a:pt x="255732" y="357122"/>
                  </a:cubicBezTo>
                  <a:lnTo>
                    <a:pt x="111623" y="357122"/>
                  </a:lnTo>
                  <a:cubicBezTo>
                    <a:pt x="82019" y="357122"/>
                    <a:pt x="53627" y="345362"/>
                    <a:pt x="32694" y="324429"/>
                  </a:cubicBezTo>
                  <a:cubicBezTo>
                    <a:pt x="11760" y="303495"/>
                    <a:pt x="0" y="275103"/>
                    <a:pt x="0" y="245499"/>
                  </a:cubicBezTo>
                  <a:lnTo>
                    <a:pt x="0" y="111623"/>
                  </a:lnTo>
                  <a:cubicBezTo>
                    <a:pt x="0" y="82019"/>
                    <a:pt x="11760" y="53627"/>
                    <a:pt x="32694" y="32694"/>
                  </a:cubicBezTo>
                  <a:cubicBezTo>
                    <a:pt x="53627" y="11760"/>
                    <a:pt x="82019" y="0"/>
                    <a:pt x="111623" y="0"/>
                  </a:cubicBezTo>
                  <a:close/>
                </a:path>
              </a:pathLst>
            </a:custGeom>
            <a:solidFill>
              <a:srgbClr val="EFE8E8"/>
            </a:solidFill>
            <a:ln>
              <a:noFill/>
            </a:ln>
          </p:spPr>
          <p:txBody>
            <a:bodyPr spcFirstLastPara="1" wrap="square" lIns="45725" tIns="22850" rIns="45725" bIns="22850" anchor="t" anchorCtr="0">
              <a:noAutofit/>
            </a:bodyPr>
            <a:lstStyle/>
            <a:p>
              <a:pPr marL="0" marR="0" lvl="0" indent="0" algn="l" rtl="0">
                <a:spcBef>
                  <a:spcPts val="0"/>
                </a:spcBef>
                <a:spcAft>
                  <a:spcPts val="0"/>
                </a:spcAft>
                <a:buNone/>
              </a:pPr>
              <a:endParaRPr sz="900">
                <a:solidFill>
                  <a:schemeClr val="dk1"/>
                </a:solidFill>
                <a:latin typeface="Calibri"/>
                <a:ea typeface="Calibri"/>
                <a:cs typeface="Calibri"/>
                <a:sym typeface="Calibri"/>
              </a:endParaRPr>
            </a:p>
          </p:txBody>
        </p:sp>
        <p:sp>
          <p:nvSpPr>
            <p:cNvPr id="101" name="Google Shape;101;p17"/>
            <p:cNvSpPr txBox="1"/>
            <p:nvPr/>
          </p:nvSpPr>
          <p:spPr>
            <a:xfrm>
              <a:off x="0" y="-85725"/>
              <a:ext cx="367500" cy="442800"/>
            </a:xfrm>
            <a:prstGeom prst="rect">
              <a:avLst/>
            </a:prstGeom>
            <a:noFill/>
            <a:ln>
              <a:noFill/>
            </a:ln>
          </p:spPr>
          <p:txBody>
            <a:bodyPr spcFirstLastPara="1" wrap="square" lIns="25400" tIns="25400" rIns="25400" bIns="25400" anchor="ctr" anchorCtr="0">
              <a:noAutofit/>
            </a:bodyPr>
            <a:lstStyle/>
            <a:p>
              <a:pPr marL="0" marR="0" lvl="0" indent="0" algn="ctr" rtl="0">
                <a:lnSpc>
                  <a:spcPct val="190944"/>
                </a:lnSpc>
                <a:spcBef>
                  <a:spcPts val="0"/>
                </a:spcBef>
                <a:spcAft>
                  <a:spcPts val="0"/>
                </a:spcAft>
                <a:buNone/>
              </a:pPr>
              <a:endParaRPr sz="900">
                <a:solidFill>
                  <a:schemeClr val="dk1"/>
                </a:solidFill>
                <a:latin typeface="Calibri"/>
                <a:ea typeface="Calibri"/>
                <a:cs typeface="Calibri"/>
                <a:sym typeface="Calibri"/>
              </a:endParaRPr>
            </a:p>
          </p:txBody>
        </p:sp>
      </p:grpSp>
      <p:grpSp>
        <p:nvGrpSpPr>
          <p:cNvPr id="102" name="Google Shape;102;p17"/>
          <p:cNvGrpSpPr/>
          <p:nvPr/>
        </p:nvGrpSpPr>
        <p:grpSpPr>
          <a:xfrm>
            <a:off x="304214" y="2488435"/>
            <a:ext cx="589764" cy="710681"/>
            <a:chOff x="0" y="-85725"/>
            <a:chExt cx="367500" cy="442847"/>
          </a:xfrm>
        </p:grpSpPr>
        <p:sp>
          <p:nvSpPr>
            <p:cNvPr id="103" name="Google Shape;103;p17"/>
            <p:cNvSpPr/>
            <p:nvPr/>
          </p:nvSpPr>
          <p:spPr>
            <a:xfrm>
              <a:off x="0" y="0"/>
              <a:ext cx="367355" cy="357122"/>
            </a:xfrm>
            <a:custGeom>
              <a:avLst/>
              <a:gdLst/>
              <a:ahLst/>
              <a:cxnLst/>
              <a:rect l="l" t="t" r="r" b="b"/>
              <a:pathLst>
                <a:path w="367355" h="357122" extrusionOk="0">
                  <a:moveTo>
                    <a:pt x="111623" y="0"/>
                  </a:moveTo>
                  <a:lnTo>
                    <a:pt x="255732" y="0"/>
                  </a:lnTo>
                  <a:cubicBezTo>
                    <a:pt x="285337" y="0"/>
                    <a:pt x="313728" y="11760"/>
                    <a:pt x="334662" y="32694"/>
                  </a:cubicBezTo>
                  <a:cubicBezTo>
                    <a:pt x="355595" y="53627"/>
                    <a:pt x="367355" y="82019"/>
                    <a:pt x="367355" y="111623"/>
                  </a:cubicBezTo>
                  <a:lnTo>
                    <a:pt x="367355" y="245499"/>
                  </a:lnTo>
                  <a:cubicBezTo>
                    <a:pt x="367355" y="275103"/>
                    <a:pt x="355595" y="303495"/>
                    <a:pt x="334662" y="324429"/>
                  </a:cubicBezTo>
                  <a:cubicBezTo>
                    <a:pt x="313728" y="345362"/>
                    <a:pt x="285337" y="357122"/>
                    <a:pt x="255732" y="357122"/>
                  </a:cubicBezTo>
                  <a:lnTo>
                    <a:pt x="111623" y="357122"/>
                  </a:lnTo>
                  <a:cubicBezTo>
                    <a:pt x="82019" y="357122"/>
                    <a:pt x="53627" y="345362"/>
                    <a:pt x="32694" y="324429"/>
                  </a:cubicBezTo>
                  <a:cubicBezTo>
                    <a:pt x="11760" y="303495"/>
                    <a:pt x="0" y="275103"/>
                    <a:pt x="0" y="245499"/>
                  </a:cubicBezTo>
                  <a:lnTo>
                    <a:pt x="0" y="111623"/>
                  </a:lnTo>
                  <a:cubicBezTo>
                    <a:pt x="0" y="82019"/>
                    <a:pt x="11760" y="53627"/>
                    <a:pt x="32694" y="32694"/>
                  </a:cubicBezTo>
                  <a:cubicBezTo>
                    <a:pt x="53627" y="11760"/>
                    <a:pt x="82019" y="0"/>
                    <a:pt x="111623" y="0"/>
                  </a:cubicBezTo>
                  <a:close/>
                </a:path>
              </a:pathLst>
            </a:custGeom>
            <a:solidFill>
              <a:srgbClr val="EFE8E8"/>
            </a:solidFill>
            <a:ln>
              <a:noFill/>
            </a:ln>
          </p:spPr>
          <p:txBody>
            <a:bodyPr spcFirstLastPara="1" wrap="square" lIns="45725" tIns="22850" rIns="45725" bIns="22850" anchor="t" anchorCtr="0">
              <a:noAutofit/>
            </a:bodyPr>
            <a:lstStyle/>
            <a:p>
              <a:pPr marL="0" marR="0" lvl="0" indent="0" algn="l" rtl="0">
                <a:spcBef>
                  <a:spcPts val="0"/>
                </a:spcBef>
                <a:spcAft>
                  <a:spcPts val="0"/>
                </a:spcAft>
                <a:buNone/>
              </a:pPr>
              <a:endParaRPr sz="900">
                <a:solidFill>
                  <a:schemeClr val="dk1"/>
                </a:solidFill>
                <a:latin typeface="Calibri"/>
                <a:ea typeface="Calibri"/>
                <a:cs typeface="Calibri"/>
                <a:sym typeface="Calibri"/>
              </a:endParaRPr>
            </a:p>
          </p:txBody>
        </p:sp>
        <p:sp>
          <p:nvSpPr>
            <p:cNvPr id="104" name="Google Shape;104;p17"/>
            <p:cNvSpPr txBox="1"/>
            <p:nvPr/>
          </p:nvSpPr>
          <p:spPr>
            <a:xfrm>
              <a:off x="0" y="-85725"/>
              <a:ext cx="367500" cy="442800"/>
            </a:xfrm>
            <a:prstGeom prst="rect">
              <a:avLst/>
            </a:prstGeom>
            <a:noFill/>
            <a:ln>
              <a:noFill/>
            </a:ln>
          </p:spPr>
          <p:txBody>
            <a:bodyPr spcFirstLastPara="1" wrap="square" lIns="25400" tIns="25400" rIns="25400" bIns="25400" anchor="ctr" anchorCtr="0">
              <a:noAutofit/>
            </a:bodyPr>
            <a:lstStyle/>
            <a:p>
              <a:pPr marL="0" marR="0" lvl="0" indent="0" algn="ctr" rtl="0">
                <a:lnSpc>
                  <a:spcPct val="190944"/>
                </a:lnSpc>
                <a:spcBef>
                  <a:spcPts val="0"/>
                </a:spcBef>
                <a:spcAft>
                  <a:spcPts val="0"/>
                </a:spcAft>
                <a:buNone/>
              </a:pPr>
              <a:endParaRPr sz="900">
                <a:solidFill>
                  <a:schemeClr val="dk1"/>
                </a:solidFill>
                <a:latin typeface="Calibri"/>
                <a:ea typeface="Calibri"/>
                <a:cs typeface="Calibri"/>
                <a:sym typeface="Calibri"/>
              </a:endParaRPr>
            </a:p>
          </p:txBody>
        </p:sp>
      </p:grpSp>
      <p:grpSp>
        <p:nvGrpSpPr>
          <p:cNvPr id="108" name="Google Shape;108;p17"/>
          <p:cNvGrpSpPr/>
          <p:nvPr/>
        </p:nvGrpSpPr>
        <p:grpSpPr>
          <a:xfrm>
            <a:off x="289020" y="3412941"/>
            <a:ext cx="589764" cy="710681"/>
            <a:chOff x="0" y="-85725"/>
            <a:chExt cx="367500" cy="442847"/>
          </a:xfrm>
        </p:grpSpPr>
        <p:sp>
          <p:nvSpPr>
            <p:cNvPr id="109" name="Google Shape;109;p17"/>
            <p:cNvSpPr/>
            <p:nvPr/>
          </p:nvSpPr>
          <p:spPr>
            <a:xfrm>
              <a:off x="0" y="0"/>
              <a:ext cx="367355" cy="357122"/>
            </a:xfrm>
            <a:custGeom>
              <a:avLst/>
              <a:gdLst/>
              <a:ahLst/>
              <a:cxnLst/>
              <a:rect l="l" t="t" r="r" b="b"/>
              <a:pathLst>
                <a:path w="367355" h="357122" extrusionOk="0">
                  <a:moveTo>
                    <a:pt x="111623" y="0"/>
                  </a:moveTo>
                  <a:lnTo>
                    <a:pt x="255732" y="0"/>
                  </a:lnTo>
                  <a:cubicBezTo>
                    <a:pt x="285337" y="0"/>
                    <a:pt x="313728" y="11760"/>
                    <a:pt x="334662" y="32694"/>
                  </a:cubicBezTo>
                  <a:cubicBezTo>
                    <a:pt x="355595" y="53627"/>
                    <a:pt x="367355" y="82019"/>
                    <a:pt x="367355" y="111623"/>
                  </a:cubicBezTo>
                  <a:lnTo>
                    <a:pt x="367355" y="245499"/>
                  </a:lnTo>
                  <a:cubicBezTo>
                    <a:pt x="367355" y="275103"/>
                    <a:pt x="355595" y="303495"/>
                    <a:pt x="334662" y="324429"/>
                  </a:cubicBezTo>
                  <a:cubicBezTo>
                    <a:pt x="313728" y="345362"/>
                    <a:pt x="285337" y="357122"/>
                    <a:pt x="255732" y="357122"/>
                  </a:cubicBezTo>
                  <a:lnTo>
                    <a:pt x="111623" y="357122"/>
                  </a:lnTo>
                  <a:cubicBezTo>
                    <a:pt x="82019" y="357122"/>
                    <a:pt x="53627" y="345362"/>
                    <a:pt x="32694" y="324429"/>
                  </a:cubicBezTo>
                  <a:cubicBezTo>
                    <a:pt x="11760" y="303495"/>
                    <a:pt x="0" y="275103"/>
                    <a:pt x="0" y="245499"/>
                  </a:cubicBezTo>
                  <a:lnTo>
                    <a:pt x="0" y="111623"/>
                  </a:lnTo>
                  <a:cubicBezTo>
                    <a:pt x="0" y="82019"/>
                    <a:pt x="11760" y="53627"/>
                    <a:pt x="32694" y="32694"/>
                  </a:cubicBezTo>
                  <a:cubicBezTo>
                    <a:pt x="53627" y="11760"/>
                    <a:pt x="82019" y="0"/>
                    <a:pt x="111623" y="0"/>
                  </a:cubicBezTo>
                  <a:close/>
                </a:path>
              </a:pathLst>
            </a:custGeom>
            <a:solidFill>
              <a:srgbClr val="EFE8E8"/>
            </a:solidFill>
            <a:ln>
              <a:noFill/>
            </a:ln>
          </p:spPr>
          <p:txBody>
            <a:bodyPr spcFirstLastPara="1" wrap="square" lIns="45725" tIns="22850" rIns="45725" bIns="22850" anchor="t" anchorCtr="0">
              <a:noAutofit/>
            </a:bodyPr>
            <a:lstStyle/>
            <a:p>
              <a:pPr marL="0" marR="0" lvl="0" indent="0" algn="l" rtl="0">
                <a:spcBef>
                  <a:spcPts val="0"/>
                </a:spcBef>
                <a:spcAft>
                  <a:spcPts val="0"/>
                </a:spcAft>
                <a:buNone/>
              </a:pPr>
              <a:endParaRPr sz="900">
                <a:solidFill>
                  <a:schemeClr val="dk1"/>
                </a:solidFill>
                <a:latin typeface="Calibri"/>
                <a:ea typeface="Calibri"/>
                <a:cs typeface="Calibri"/>
                <a:sym typeface="Calibri"/>
              </a:endParaRPr>
            </a:p>
          </p:txBody>
        </p:sp>
        <p:sp>
          <p:nvSpPr>
            <p:cNvPr id="110" name="Google Shape;110;p17"/>
            <p:cNvSpPr txBox="1"/>
            <p:nvPr/>
          </p:nvSpPr>
          <p:spPr>
            <a:xfrm>
              <a:off x="0" y="-85725"/>
              <a:ext cx="367500" cy="442800"/>
            </a:xfrm>
            <a:prstGeom prst="rect">
              <a:avLst/>
            </a:prstGeom>
            <a:noFill/>
            <a:ln>
              <a:noFill/>
            </a:ln>
          </p:spPr>
          <p:txBody>
            <a:bodyPr spcFirstLastPara="1" wrap="square" lIns="25400" tIns="25400" rIns="25400" bIns="25400" anchor="ctr" anchorCtr="0">
              <a:noAutofit/>
            </a:bodyPr>
            <a:lstStyle/>
            <a:p>
              <a:pPr marL="0" marR="0" lvl="0" indent="0" algn="ctr" rtl="0">
                <a:lnSpc>
                  <a:spcPct val="190944"/>
                </a:lnSpc>
                <a:spcBef>
                  <a:spcPts val="0"/>
                </a:spcBef>
                <a:spcAft>
                  <a:spcPts val="0"/>
                </a:spcAft>
                <a:buNone/>
              </a:pPr>
              <a:endParaRPr sz="900">
                <a:solidFill>
                  <a:schemeClr val="dk1"/>
                </a:solidFill>
                <a:latin typeface="Calibri"/>
                <a:ea typeface="Calibri"/>
                <a:cs typeface="Calibri"/>
                <a:sym typeface="Calibri"/>
              </a:endParaRPr>
            </a:p>
          </p:txBody>
        </p:sp>
      </p:grpSp>
      <p:sp>
        <p:nvSpPr>
          <p:cNvPr id="111" name="Google Shape;111;p17"/>
          <p:cNvSpPr/>
          <p:nvPr/>
        </p:nvSpPr>
        <p:spPr>
          <a:xfrm>
            <a:off x="380752" y="1662999"/>
            <a:ext cx="351490" cy="362829"/>
          </a:xfrm>
          <a:custGeom>
            <a:avLst/>
            <a:gdLst/>
            <a:ahLst/>
            <a:cxnLst/>
            <a:rect l="l" t="t" r="r" b="b"/>
            <a:pathLst>
              <a:path w="702980" h="725657" extrusionOk="0">
                <a:moveTo>
                  <a:pt x="0" y="0"/>
                </a:moveTo>
                <a:lnTo>
                  <a:pt x="702980" y="0"/>
                </a:lnTo>
                <a:lnTo>
                  <a:pt x="702980" y="725657"/>
                </a:lnTo>
                <a:lnTo>
                  <a:pt x="0" y="725657"/>
                </a:lnTo>
                <a:lnTo>
                  <a:pt x="0" y="0"/>
                </a:lnTo>
                <a:close/>
              </a:path>
            </a:pathLst>
          </a:custGeom>
          <a:blipFill rotWithShape="1">
            <a:blip r:embed="rId3">
              <a:alphaModFix/>
            </a:blip>
            <a:stretch>
              <a:fillRect/>
            </a:stretch>
          </a:blipFill>
          <a:ln>
            <a:noFill/>
          </a:ln>
        </p:spPr>
        <p:txBody>
          <a:bodyPr spcFirstLastPara="1" wrap="square" lIns="45725" tIns="22850" rIns="45725" bIns="22850" anchor="t" anchorCtr="0">
            <a:noAutofit/>
          </a:bodyPr>
          <a:lstStyle/>
          <a:p>
            <a:pPr marL="0" marR="0" lvl="0" indent="0" algn="l" rtl="0">
              <a:spcBef>
                <a:spcPts val="0"/>
              </a:spcBef>
              <a:spcAft>
                <a:spcPts val="0"/>
              </a:spcAft>
              <a:buNone/>
            </a:pPr>
            <a:endParaRPr sz="900">
              <a:solidFill>
                <a:schemeClr val="dk1"/>
              </a:solidFill>
              <a:latin typeface="Calibri"/>
              <a:ea typeface="Calibri"/>
              <a:cs typeface="Calibri"/>
              <a:sym typeface="Calibri"/>
            </a:endParaRPr>
          </a:p>
        </p:txBody>
      </p:sp>
      <p:sp>
        <p:nvSpPr>
          <p:cNvPr id="113" name="Google Shape;113;p17"/>
          <p:cNvSpPr/>
          <p:nvPr/>
        </p:nvSpPr>
        <p:spPr>
          <a:xfrm>
            <a:off x="443921" y="2767550"/>
            <a:ext cx="350321" cy="350321"/>
          </a:xfrm>
          <a:custGeom>
            <a:avLst/>
            <a:gdLst/>
            <a:ahLst/>
            <a:cxnLst/>
            <a:rect l="l" t="t" r="r" b="b"/>
            <a:pathLst>
              <a:path w="700641" h="700641" extrusionOk="0">
                <a:moveTo>
                  <a:pt x="0" y="0"/>
                </a:moveTo>
                <a:lnTo>
                  <a:pt x="700641" y="0"/>
                </a:lnTo>
                <a:lnTo>
                  <a:pt x="700641" y="700641"/>
                </a:lnTo>
                <a:lnTo>
                  <a:pt x="0" y="700641"/>
                </a:lnTo>
                <a:lnTo>
                  <a:pt x="0" y="0"/>
                </a:lnTo>
                <a:close/>
              </a:path>
            </a:pathLst>
          </a:custGeom>
          <a:blipFill rotWithShape="1">
            <a:blip r:embed="rId4">
              <a:alphaModFix/>
            </a:blip>
            <a:stretch>
              <a:fillRect/>
            </a:stretch>
          </a:blipFill>
          <a:ln>
            <a:noFill/>
          </a:ln>
        </p:spPr>
        <p:txBody>
          <a:bodyPr spcFirstLastPara="1" wrap="square" lIns="45725" tIns="22850" rIns="45725" bIns="22850" anchor="t" anchorCtr="0">
            <a:noAutofit/>
          </a:bodyPr>
          <a:lstStyle/>
          <a:p>
            <a:pPr marL="0" marR="0" lvl="0" indent="0" algn="l" rtl="0">
              <a:spcBef>
                <a:spcPts val="0"/>
              </a:spcBef>
              <a:spcAft>
                <a:spcPts val="0"/>
              </a:spcAft>
              <a:buNone/>
            </a:pPr>
            <a:endParaRPr sz="900">
              <a:solidFill>
                <a:schemeClr val="dk1"/>
              </a:solidFill>
              <a:latin typeface="Calibri"/>
              <a:ea typeface="Calibri"/>
              <a:cs typeface="Calibri"/>
              <a:sym typeface="Calibri"/>
            </a:endParaRPr>
          </a:p>
        </p:txBody>
      </p:sp>
      <p:sp>
        <p:nvSpPr>
          <p:cNvPr id="114" name="Google Shape;114;p17"/>
          <p:cNvSpPr/>
          <p:nvPr/>
        </p:nvSpPr>
        <p:spPr>
          <a:xfrm>
            <a:off x="443608" y="3688753"/>
            <a:ext cx="290656" cy="413011"/>
          </a:xfrm>
          <a:custGeom>
            <a:avLst/>
            <a:gdLst/>
            <a:ahLst/>
            <a:cxnLst/>
            <a:rect l="l" t="t" r="r" b="b"/>
            <a:pathLst>
              <a:path w="581313" h="826022" extrusionOk="0">
                <a:moveTo>
                  <a:pt x="0" y="0"/>
                </a:moveTo>
                <a:lnTo>
                  <a:pt x="581313" y="0"/>
                </a:lnTo>
                <a:lnTo>
                  <a:pt x="581313" y="826022"/>
                </a:lnTo>
                <a:lnTo>
                  <a:pt x="0" y="826022"/>
                </a:lnTo>
                <a:lnTo>
                  <a:pt x="0" y="0"/>
                </a:lnTo>
                <a:close/>
              </a:path>
            </a:pathLst>
          </a:custGeom>
          <a:blipFill rotWithShape="1">
            <a:blip r:embed="rId5">
              <a:alphaModFix/>
            </a:blip>
            <a:stretch>
              <a:fillRect/>
            </a:stretch>
          </a:blipFill>
          <a:ln>
            <a:noFill/>
          </a:ln>
        </p:spPr>
        <p:txBody>
          <a:bodyPr spcFirstLastPara="1" wrap="square" lIns="45725" tIns="22850" rIns="45725" bIns="22850" anchor="t" anchorCtr="0">
            <a:noAutofit/>
          </a:bodyPr>
          <a:lstStyle/>
          <a:p>
            <a:pPr marL="0" marR="0" lvl="0" indent="0" algn="l" rtl="0">
              <a:spcBef>
                <a:spcPts val="0"/>
              </a:spcBef>
              <a:spcAft>
                <a:spcPts val="0"/>
              </a:spcAft>
              <a:buNone/>
            </a:pPr>
            <a:endParaRPr sz="900">
              <a:solidFill>
                <a:schemeClr val="dk1"/>
              </a:solidFill>
              <a:latin typeface="Calibri"/>
              <a:ea typeface="Calibri"/>
              <a:cs typeface="Calibri"/>
              <a:sym typeface="Calibri"/>
            </a:endParaRPr>
          </a:p>
        </p:txBody>
      </p:sp>
      <p:sp>
        <p:nvSpPr>
          <p:cNvPr id="116" name="Google Shape;116;p17"/>
          <p:cNvSpPr txBox="1"/>
          <p:nvPr/>
        </p:nvSpPr>
        <p:spPr>
          <a:xfrm>
            <a:off x="971012" y="1675908"/>
            <a:ext cx="1973100" cy="424732"/>
          </a:xfrm>
          <a:prstGeom prst="rect">
            <a:avLst/>
          </a:prstGeom>
          <a:noFill/>
          <a:ln>
            <a:noFill/>
          </a:ln>
        </p:spPr>
        <p:txBody>
          <a:bodyPr spcFirstLastPara="1" wrap="square" lIns="0" tIns="0" rIns="0" bIns="0" anchor="t" anchorCtr="0">
            <a:spAutoFit/>
          </a:bodyPr>
          <a:lstStyle/>
          <a:p>
            <a:pPr marL="0" marR="0" lvl="0" indent="0" algn="just" rtl="0">
              <a:lnSpc>
                <a:spcPct val="138000"/>
              </a:lnSpc>
              <a:spcBef>
                <a:spcPts val="0"/>
              </a:spcBef>
              <a:spcAft>
                <a:spcPts val="0"/>
              </a:spcAft>
              <a:buNone/>
            </a:pPr>
            <a:r>
              <a:rPr lang="en" sz="1000" dirty="0">
                <a:solidFill>
                  <a:srgbClr val="5D4825"/>
                </a:solidFill>
                <a:latin typeface="Montserrat Medium"/>
                <a:ea typeface="Montserrat Medium"/>
                <a:cs typeface="Montserrat Medium"/>
                <a:sym typeface="Montserrat Medium"/>
              </a:rPr>
              <a:t>The dataset has been loaded using a pandas data frame</a:t>
            </a:r>
            <a:endParaRPr sz="700" dirty="0"/>
          </a:p>
        </p:txBody>
      </p:sp>
      <p:sp>
        <p:nvSpPr>
          <p:cNvPr id="117" name="Google Shape;117;p17"/>
          <p:cNvSpPr txBox="1"/>
          <p:nvPr/>
        </p:nvSpPr>
        <p:spPr>
          <a:xfrm>
            <a:off x="1033452" y="2738410"/>
            <a:ext cx="1973100" cy="212366"/>
          </a:xfrm>
          <a:prstGeom prst="rect">
            <a:avLst/>
          </a:prstGeom>
          <a:noFill/>
          <a:ln>
            <a:noFill/>
          </a:ln>
        </p:spPr>
        <p:txBody>
          <a:bodyPr spcFirstLastPara="1" wrap="square" lIns="0" tIns="0" rIns="0" bIns="0" anchor="t" anchorCtr="0">
            <a:spAutoFit/>
          </a:bodyPr>
          <a:lstStyle/>
          <a:p>
            <a:pPr marL="0" marR="0" lvl="0" indent="0" algn="just" rtl="0">
              <a:lnSpc>
                <a:spcPct val="138000"/>
              </a:lnSpc>
              <a:spcBef>
                <a:spcPts val="0"/>
              </a:spcBef>
              <a:spcAft>
                <a:spcPts val="0"/>
              </a:spcAft>
              <a:buNone/>
            </a:pPr>
            <a:r>
              <a:rPr lang="en" sz="1000" dirty="0">
                <a:solidFill>
                  <a:srgbClr val="5D4825"/>
                </a:solidFill>
                <a:latin typeface="Montserrat Medium"/>
                <a:ea typeface="Montserrat Medium"/>
                <a:cs typeface="Montserrat Medium"/>
                <a:sym typeface="Montserrat Medium"/>
              </a:rPr>
              <a:t>Finding null values </a:t>
            </a:r>
            <a:endParaRPr sz="700" dirty="0"/>
          </a:p>
        </p:txBody>
      </p:sp>
      <p:sp>
        <p:nvSpPr>
          <p:cNvPr id="119" name="Google Shape;119;p17"/>
          <p:cNvSpPr txBox="1"/>
          <p:nvPr/>
        </p:nvSpPr>
        <p:spPr>
          <a:xfrm>
            <a:off x="991108" y="3653917"/>
            <a:ext cx="1973100" cy="424732"/>
          </a:xfrm>
          <a:prstGeom prst="rect">
            <a:avLst/>
          </a:prstGeom>
          <a:noFill/>
          <a:ln>
            <a:noFill/>
          </a:ln>
        </p:spPr>
        <p:txBody>
          <a:bodyPr spcFirstLastPara="1" wrap="square" lIns="0" tIns="0" rIns="0" bIns="0" anchor="t" anchorCtr="0">
            <a:spAutoFit/>
          </a:bodyPr>
          <a:lstStyle/>
          <a:p>
            <a:pPr marL="0" marR="0" lvl="0" indent="0" rtl="0">
              <a:lnSpc>
                <a:spcPct val="138000"/>
              </a:lnSpc>
              <a:spcBef>
                <a:spcPts val="0"/>
              </a:spcBef>
              <a:spcAft>
                <a:spcPts val="0"/>
              </a:spcAft>
              <a:buNone/>
            </a:pPr>
            <a:r>
              <a:rPr lang="en" sz="1000" dirty="0">
                <a:solidFill>
                  <a:srgbClr val="5D4825"/>
                </a:solidFill>
                <a:latin typeface="Montserrat Medium"/>
                <a:ea typeface="Montserrat Medium"/>
                <a:cs typeface="Montserrat Medium"/>
                <a:sym typeface="Montserrat Medium"/>
              </a:rPr>
              <a:t>Data types have been previewed</a:t>
            </a:r>
            <a:endParaRPr sz="700" dirty="0"/>
          </a:p>
        </p:txBody>
      </p:sp>
      <p:sp>
        <p:nvSpPr>
          <p:cNvPr id="120" name="Google Shape;120;p17"/>
          <p:cNvSpPr txBox="1"/>
          <p:nvPr/>
        </p:nvSpPr>
        <p:spPr>
          <a:xfrm>
            <a:off x="343370" y="428108"/>
            <a:ext cx="5812500" cy="461700"/>
          </a:xfrm>
          <a:prstGeom prst="rect">
            <a:avLst/>
          </a:prstGeom>
          <a:noFill/>
          <a:ln>
            <a:noFill/>
          </a:ln>
        </p:spPr>
        <p:txBody>
          <a:bodyPr spcFirstLastPara="1" wrap="square" lIns="0" tIns="0" rIns="0" bIns="0" anchor="t" anchorCtr="0">
            <a:spAutoFit/>
          </a:bodyPr>
          <a:lstStyle/>
          <a:p>
            <a:pPr marL="0" marR="0" lvl="0" indent="0" algn="l" rtl="0">
              <a:lnSpc>
                <a:spcPct val="115983"/>
              </a:lnSpc>
              <a:spcBef>
                <a:spcPts val="0"/>
              </a:spcBef>
              <a:spcAft>
                <a:spcPts val="0"/>
              </a:spcAft>
              <a:buNone/>
            </a:pPr>
            <a:r>
              <a:rPr lang="en" sz="3000" b="1">
                <a:solidFill>
                  <a:srgbClr val="9A5C2E"/>
                </a:solidFill>
                <a:latin typeface="Arial"/>
                <a:ea typeface="Arial"/>
                <a:cs typeface="Arial"/>
                <a:sym typeface="Arial"/>
              </a:rPr>
              <a:t>D</a:t>
            </a:r>
            <a:r>
              <a:rPr lang="en" sz="3000" b="1" u="none" strike="noStrike">
                <a:solidFill>
                  <a:srgbClr val="9A5C2E"/>
                </a:solidFill>
                <a:latin typeface="Arial"/>
                <a:ea typeface="Arial"/>
                <a:cs typeface="Arial"/>
                <a:sym typeface="Arial"/>
              </a:rPr>
              <a:t>ATA PREPARATION</a:t>
            </a:r>
            <a:endParaRPr sz="700"/>
          </a:p>
        </p:txBody>
      </p:sp>
      <p:sp>
        <p:nvSpPr>
          <p:cNvPr id="121" name="Google Shape;121;p17"/>
          <p:cNvSpPr txBox="1"/>
          <p:nvPr/>
        </p:nvSpPr>
        <p:spPr>
          <a:xfrm>
            <a:off x="4000257" y="4485493"/>
            <a:ext cx="2307000" cy="138600"/>
          </a:xfrm>
          <a:prstGeom prst="rect">
            <a:avLst/>
          </a:prstGeom>
          <a:noFill/>
          <a:ln>
            <a:noFill/>
          </a:ln>
        </p:spPr>
        <p:txBody>
          <a:bodyPr spcFirstLastPara="1" wrap="square" lIns="0" tIns="0" rIns="0" bIns="0" anchor="t" anchorCtr="0">
            <a:spAutoFit/>
          </a:bodyPr>
          <a:lstStyle/>
          <a:p>
            <a:pPr marL="0" marR="0" lvl="0" indent="0" algn="ctr" rtl="0">
              <a:lnSpc>
                <a:spcPct val="138080"/>
              </a:lnSpc>
              <a:spcBef>
                <a:spcPts val="0"/>
              </a:spcBef>
              <a:spcAft>
                <a:spcPts val="0"/>
              </a:spcAft>
              <a:buNone/>
            </a:pPr>
            <a:r>
              <a:rPr lang="en" sz="900" b="1" dirty="0">
                <a:solidFill>
                  <a:srgbClr val="000000"/>
                </a:solidFill>
                <a:latin typeface="Montserrat"/>
                <a:ea typeface="Montserrat"/>
                <a:cs typeface="Montserrat"/>
                <a:sym typeface="Montserrat"/>
              </a:rPr>
              <a:t>Loading Data and null value analysis</a:t>
            </a:r>
            <a:endParaRPr sz="700" dirty="0"/>
          </a:p>
        </p:txBody>
      </p:sp>
      <p:pic>
        <p:nvPicPr>
          <p:cNvPr id="3" name="Picture 2">
            <a:extLst>
              <a:ext uri="{FF2B5EF4-FFF2-40B4-BE49-F238E27FC236}">
                <a16:creationId xmlns:a16="http://schemas.microsoft.com/office/drawing/2014/main" id="{5E8D9A86-37AB-1D34-FEF2-F29F994D5A08}"/>
              </a:ext>
            </a:extLst>
          </p:cNvPr>
          <p:cNvPicPr>
            <a:picLocks noChangeAspect="1"/>
          </p:cNvPicPr>
          <p:nvPr/>
        </p:nvPicPr>
        <p:blipFill>
          <a:blip r:embed="rId6"/>
          <a:stretch>
            <a:fillRect/>
          </a:stretch>
        </p:blipFill>
        <p:spPr>
          <a:xfrm>
            <a:off x="3778345" y="1571152"/>
            <a:ext cx="2750825" cy="408869"/>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E048B368-D527-6AD9-856D-745968EC6356}"/>
              </a:ext>
            </a:extLst>
          </p:cNvPr>
          <p:cNvPicPr>
            <a:picLocks noChangeAspect="1"/>
          </p:cNvPicPr>
          <p:nvPr/>
        </p:nvPicPr>
        <p:blipFill>
          <a:blip r:embed="rId7"/>
          <a:stretch>
            <a:fillRect/>
          </a:stretch>
        </p:blipFill>
        <p:spPr>
          <a:xfrm>
            <a:off x="3869326" y="2150359"/>
            <a:ext cx="2568865" cy="197318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2" name="Google Shape;132;p18"/>
          <p:cNvSpPr txBox="1"/>
          <p:nvPr/>
        </p:nvSpPr>
        <p:spPr>
          <a:xfrm>
            <a:off x="257549" y="934045"/>
            <a:ext cx="4545856" cy="738664"/>
          </a:xfrm>
          <a:prstGeom prst="rect">
            <a:avLst/>
          </a:prstGeom>
          <a:noFill/>
          <a:ln>
            <a:noFill/>
          </a:ln>
        </p:spPr>
        <p:txBody>
          <a:bodyPr spcFirstLastPara="1" wrap="square" lIns="0" tIns="0" rIns="0" bIns="0" anchor="t" anchorCtr="0">
            <a:spAutoFit/>
          </a:bodyPr>
          <a:lstStyle/>
          <a:p>
            <a:pPr marL="171450" lvl="0" indent="-171450" algn="just">
              <a:buFont typeface="Wingdings" pitchFamily="2" charset="2"/>
              <a:buChar char="Ø"/>
            </a:pPr>
            <a:r>
              <a:rPr lang="en-IN" sz="1200" dirty="0">
                <a:latin typeface="Times New Roman" panose="02020603050405020304" pitchFamily="18" charset="0"/>
                <a:cs typeface="Times New Roman" panose="02020603050405020304" pitchFamily="18" charset="0"/>
              </a:rPr>
              <a:t>Scatter plot of ROA(A) before interest and % after tax vs. Total assets </a:t>
            </a:r>
          </a:p>
          <a:p>
            <a:pPr marL="171450" lvl="0" indent="-171450" algn="just">
              <a:buFont typeface="Wingdings" pitchFamily="2" charset="2"/>
              <a:buChar char="Ø"/>
            </a:pPr>
            <a:r>
              <a:rPr lang="en-IN" sz="1200" dirty="0">
                <a:latin typeface="Times New Roman" panose="02020603050405020304" pitchFamily="18" charset="0"/>
                <a:cs typeface="Times New Roman" panose="02020603050405020304" pitchFamily="18" charset="0"/>
              </a:rPr>
              <a:t>Most data points are clustered near lower total asset values, suggesting many companies in the dataset are relatively small in size.</a:t>
            </a:r>
          </a:p>
          <a:p>
            <a:pPr marL="171450" lvl="0" indent="-171450" algn="just">
              <a:buFont typeface="Wingdings" pitchFamily="2" charset="2"/>
              <a:buChar char="Ø"/>
            </a:pPr>
            <a:r>
              <a:rPr lang="en-IN" sz="1200" dirty="0">
                <a:latin typeface="Times New Roman" panose="02020603050405020304" pitchFamily="18" charset="0"/>
                <a:cs typeface="Times New Roman" panose="02020603050405020304" pitchFamily="18" charset="0"/>
              </a:rPr>
              <a:t>ROA does not appear to be a strong sole indicator of bankruptcy.</a:t>
            </a:r>
            <a:endParaRPr sz="1200" dirty="0">
              <a:latin typeface="Times New Roman" panose="02020603050405020304" pitchFamily="18" charset="0"/>
              <a:cs typeface="Times New Roman" panose="02020603050405020304" pitchFamily="18" charset="0"/>
            </a:endParaRPr>
          </a:p>
        </p:txBody>
      </p:sp>
      <p:sp>
        <p:nvSpPr>
          <p:cNvPr id="133" name="Google Shape;133;p18"/>
          <p:cNvSpPr txBox="1"/>
          <p:nvPr/>
        </p:nvSpPr>
        <p:spPr>
          <a:xfrm>
            <a:off x="272470" y="3039365"/>
            <a:ext cx="5940138" cy="738664"/>
          </a:xfrm>
          <a:prstGeom prst="rect">
            <a:avLst/>
          </a:prstGeom>
          <a:noFill/>
          <a:ln>
            <a:noFill/>
          </a:ln>
        </p:spPr>
        <p:txBody>
          <a:bodyPr spcFirstLastPara="1" wrap="square" lIns="0" tIns="0" rIns="0" bIns="0" anchor="t" anchorCtr="0">
            <a:spAutoFit/>
          </a:bodyPr>
          <a:lstStyle/>
          <a:p>
            <a:pPr marL="171450" lvl="0" indent="-171450" algn="just">
              <a:buFont typeface="Wingdings" pitchFamily="2" charset="2"/>
              <a:buChar char="Ø"/>
            </a:pPr>
            <a:r>
              <a:rPr lang="en-IN" sz="1200" dirty="0">
                <a:latin typeface="Times New Roman" panose="02020603050405020304" pitchFamily="18" charset="0"/>
                <a:cs typeface="Times New Roman" panose="02020603050405020304" pitchFamily="18" charset="0"/>
              </a:rPr>
              <a:t>Scatter plot of Net income to total assets vs. Total assets</a:t>
            </a:r>
          </a:p>
          <a:p>
            <a:pPr marL="171450" lvl="0" indent="-171450" algn="just">
              <a:buFont typeface="Wingdings" pitchFamily="2" charset="2"/>
              <a:buChar char="Ø"/>
            </a:pPr>
            <a:r>
              <a:rPr lang="en-IN" sz="1200" dirty="0">
                <a:latin typeface="Times New Roman" panose="02020603050405020304" pitchFamily="18" charset="0"/>
                <a:cs typeface="Times New Roman" panose="02020603050405020304" pitchFamily="18" charset="0"/>
              </a:rPr>
              <a:t>A similar clustering of companies with </a:t>
            </a:r>
            <a:r>
              <a:rPr lang="en-IN" sz="1200" b="1" dirty="0">
                <a:latin typeface="Times New Roman" panose="02020603050405020304" pitchFamily="18" charset="0"/>
                <a:cs typeface="Times New Roman" panose="02020603050405020304" pitchFamily="18" charset="0"/>
              </a:rPr>
              <a:t>very small total assets</a:t>
            </a:r>
            <a:r>
              <a:rPr lang="en-IN" sz="1200" dirty="0">
                <a:latin typeface="Times New Roman" panose="02020603050405020304" pitchFamily="18" charset="0"/>
                <a:cs typeface="Times New Roman" panose="02020603050405020304" pitchFamily="18" charset="0"/>
              </a:rPr>
              <a:t> exists here as well.</a:t>
            </a:r>
          </a:p>
          <a:p>
            <a:pPr marL="171450" lvl="0" indent="-171450" algn="just">
              <a:buFont typeface="Wingdings" pitchFamily="2" charset="2"/>
              <a:buChar char="Ø"/>
            </a:pPr>
            <a:r>
              <a:rPr lang="en-IN" sz="1200" dirty="0">
                <a:latin typeface="Times New Roman" panose="02020603050405020304" pitchFamily="18" charset="0"/>
                <a:cs typeface="Times New Roman" panose="02020603050405020304" pitchFamily="18" charset="0"/>
              </a:rPr>
              <a:t>This plot suggests a </a:t>
            </a:r>
            <a:r>
              <a:rPr lang="en-IN" sz="1200" b="1" dirty="0">
                <a:latin typeface="Times New Roman" panose="02020603050405020304" pitchFamily="18" charset="0"/>
                <a:cs typeface="Times New Roman" panose="02020603050405020304" pitchFamily="18" charset="0"/>
              </a:rPr>
              <a:t>slightly better separation</a:t>
            </a:r>
            <a:r>
              <a:rPr lang="en-IN" sz="1200" dirty="0">
                <a:latin typeface="Times New Roman" panose="02020603050405020304" pitchFamily="18" charset="0"/>
                <a:cs typeface="Times New Roman" panose="02020603050405020304" pitchFamily="18" charset="0"/>
              </a:rPr>
              <a:t> between bankrupt and non-bankrupt companies compared to the ROA and Debt ratio plot.</a:t>
            </a:r>
            <a:endParaRPr sz="1200" dirty="0">
              <a:latin typeface="Times New Roman" panose="02020603050405020304" pitchFamily="18" charset="0"/>
              <a:cs typeface="Times New Roman" panose="02020603050405020304" pitchFamily="18" charset="0"/>
            </a:endParaRPr>
          </a:p>
        </p:txBody>
      </p:sp>
      <p:sp>
        <p:nvSpPr>
          <p:cNvPr id="134" name="Google Shape;134;p18"/>
          <p:cNvSpPr txBox="1"/>
          <p:nvPr/>
        </p:nvSpPr>
        <p:spPr>
          <a:xfrm>
            <a:off x="235928" y="142137"/>
            <a:ext cx="6846515" cy="535531"/>
          </a:xfrm>
          <a:prstGeom prst="rect">
            <a:avLst/>
          </a:prstGeom>
          <a:noFill/>
          <a:ln>
            <a:noFill/>
          </a:ln>
        </p:spPr>
        <p:txBody>
          <a:bodyPr spcFirstLastPara="1" wrap="square" lIns="0" tIns="0" rIns="0" bIns="0" anchor="t" anchorCtr="0">
            <a:spAutoFit/>
          </a:bodyPr>
          <a:lstStyle/>
          <a:p>
            <a:pPr marL="0" marR="0" lvl="0" indent="0" algn="l" rtl="0">
              <a:lnSpc>
                <a:spcPct val="115983"/>
              </a:lnSpc>
              <a:spcBef>
                <a:spcPts val="0"/>
              </a:spcBef>
              <a:spcAft>
                <a:spcPts val="0"/>
              </a:spcAft>
              <a:buNone/>
            </a:pPr>
            <a:r>
              <a:rPr lang="en" sz="3000" b="1" dirty="0">
                <a:solidFill>
                  <a:srgbClr val="9A5C2E"/>
                </a:solidFill>
                <a:latin typeface="Arial"/>
                <a:ea typeface="Arial"/>
                <a:cs typeface="Arial"/>
                <a:sym typeface="Arial"/>
              </a:rPr>
              <a:t>EXPLORATORY DATA ANALYSIS</a:t>
            </a:r>
            <a:endParaRPr sz="700" dirty="0"/>
          </a:p>
        </p:txBody>
      </p:sp>
      <p:sp>
        <p:nvSpPr>
          <p:cNvPr id="135" name="Google Shape;135;p18"/>
          <p:cNvSpPr txBox="1"/>
          <p:nvPr/>
        </p:nvSpPr>
        <p:spPr>
          <a:xfrm>
            <a:off x="272470" y="1894372"/>
            <a:ext cx="4567714" cy="923330"/>
          </a:xfrm>
          <a:prstGeom prst="rect">
            <a:avLst/>
          </a:prstGeom>
          <a:noFill/>
          <a:ln>
            <a:noFill/>
          </a:ln>
        </p:spPr>
        <p:txBody>
          <a:bodyPr spcFirstLastPara="1" wrap="square" lIns="0" tIns="0" rIns="0" bIns="0" anchor="t" anchorCtr="0">
            <a:spAutoFit/>
          </a:bodyPr>
          <a:lstStyle/>
          <a:p>
            <a:pPr marL="171450" indent="-171450" algn="just">
              <a:buFont typeface="Wingdings" pitchFamily="2" charset="2"/>
              <a:buChar char="Ø"/>
            </a:pPr>
            <a:r>
              <a:rPr lang="en-IN" sz="1200" dirty="0">
                <a:latin typeface="Times New Roman" panose="02020603050405020304" pitchFamily="18" charset="0"/>
                <a:cs typeface="Times New Roman" panose="02020603050405020304" pitchFamily="18" charset="0"/>
              </a:rPr>
              <a:t>Scatter plot of Debt Ratio % vs Total Assets</a:t>
            </a:r>
          </a:p>
          <a:p>
            <a:pPr marL="171450" indent="-171450" algn="just">
              <a:buFont typeface="Wingdings" pitchFamily="2" charset="2"/>
              <a:buChar char="Ø"/>
            </a:pPr>
            <a:r>
              <a:rPr lang="en-IN" sz="1200" dirty="0">
                <a:latin typeface="Times New Roman" panose="02020603050405020304" pitchFamily="18" charset="0"/>
                <a:cs typeface="Times New Roman" panose="02020603050405020304" pitchFamily="18" charset="0"/>
              </a:rPr>
              <a:t>Most companies have low debt ratios, especially those with large total assets.</a:t>
            </a:r>
          </a:p>
          <a:p>
            <a:pPr marL="171450" indent="-171450" algn="just">
              <a:buFont typeface="Wingdings" pitchFamily="2" charset="2"/>
              <a:buChar char="Ø"/>
            </a:pPr>
            <a:r>
              <a:rPr lang="en-IN" sz="1200" dirty="0">
                <a:latin typeface="Times New Roman" panose="02020603050405020304" pitchFamily="18" charset="0"/>
                <a:cs typeface="Times New Roman" panose="02020603050405020304" pitchFamily="18" charset="0"/>
              </a:rPr>
              <a:t>A clear indication that lower debt ratios, especially in high-asset firms, correlate with lower bankruptcy risk.</a:t>
            </a:r>
          </a:p>
        </p:txBody>
      </p:sp>
      <p:sp>
        <p:nvSpPr>
          <p:cNvPr id="136" name="Google Shape;136;p18"/>
          <p:cNvSpPr txBox="1"/>
          <p:nvPr/>
        </p:nvSpPr>
        <p:spPr>
          <a:xfrm>
            <a:off x="6176066" y="4857391"/>
            <a:ext cx="1586700" cy="138600"/>
          </a:xfrm>
          <a:prstGeom prst="rect">
            <a:avLst/>
          </a:prstGeom>
          <a:noFill/>
          <a:ln>
            <a:noFill/>
          </a:ln>
        </p:spPr>
        <p:txBody>
          <a:bodyPr spcFirstLastPara="1" wrap="square" lIns="0" tIns="0" rIns="0" bIns="0" anchor="t" anchorCtr="0">
            <a:spAutoFit/>
          </a:bodyPr>
          <a:lstStyle/>
          <a:p>
            <a:pPr marL="0" marR="0" lvl="0" indent="0" algn="ctr" rtl="0">
              <a:lnSpc>
                <a:spcPct val="138080"/>
              </a:lnSpc>
              <a:spcBef>
                <a:spcPts val="0"/>
              </a:spcBef>
              <a:spcAft>
                <a:spcPts val="0"/>
              </a:spcAft>
              <a:buNone/>
            </a:pPr>
            <a:r>
              <a:rPr lang="en" sz="900" b="1">
                <a:solidFill>
                  <a:srgbClr val="000000"/>
                </a:solidFill>
                <a:latin typeface="Montserrat"/>
                <a:ea typeface="Montserrat"/>
                <a:cs typeface="Montserrat"/>
                <a:sym typeface="Montserrat"/>
              </a:rPr>
              <a:t>Exploratory data analysis</a:t>
            </a:r>
            <a:endParaRPr sz="700"/>
          </a:p>
        </p:txBody>
      </p:sp>
      <p:sp>
        <p:nvSpPr>
          <p:cNvPr id="137" name="Google Shape;137;p18"/>
          <p:cNvSpPr/>
          <p:nvPr/>
        </p:nvSpPr>
        <p:spPr>
          <a:xfrm>
            <a:off x="0" y="3923440"/>
            <a:ext cx="2907579" cy="1220060"/>
          </a:xfrm>
          <a:custGeom>
            <a:avLst/>
            <a:gdLst/>
            <a:ahLst/>
            <a:cxnLst/>
            <a:rect l="l" t="t" r="r" b="b"/>
            <a:pathLst>
              <a:path w="14057680" h="8229600" extrusionOk="0">
                <a:moveTo>
                  <a:pt x="0" y="0"/>
                </a:moveTo>
                <a:lnTo>
                  <a:pt x="14057680" y="0"/>
                </a:lnTo>
                <a:lnTo>
                  <a:pt x="14057680" y="8229600"/>
                </a:lnTo>
                <a:lnTo>
                  <a:pt x="0" y="8229600"/>
                </a:lnTo>
                <a:lnTo>
                  <a:pt x="0" y="0"/>
                </a:lnTo>
                <a:close/>
              </a:path>
            </a:pathLst>
          </a:custGeom>
          <a:blipFill rotWithShape="1">
            <a:blip r:embed="rId3">
              <a:alphaModFix/>
            </a:blip>
            <a:stretch>
              <a:fillRect/>
            </a:stretch>
          </a:blipFill>
          <a:ln>
            <a:noFill/>
          </a:ln>
        </p:spPr>
        <p:txBody>
          <a:bodyPr spcFirstLastPara="1" wrap="square" lIns="45725" tIns="22850" rIns="45725" bIns="22850" anchor="t" anchorCtr="0">
            <a:noAutofit/>
          </a:bodyPr>
          <a:lstStyle/>
          <a:p>
            <a:pPr marL="0" marR="0" lvl="0" indent="0" algn="l" rtl="0">
              <a:spcBef>
                <a:spcPts val="0"/>
              </a:spcBef>
              <a:spcAft>
                <a:spcPts val="0"/>
              </a:spcAft>
              <a:buNone/>
            </a:pPr>
            <a:endParaRPr sz="900">
              <a:solidFill>
                <a:schemeClr val="dk1"/>
              </a:solidFill>
              <a:latin typeface="Calibri"/>
              <a:ea typeface="Calibri"/>
              <a:cs typeface="Calibri"/>
              <a:sym typeface="Calibri"/>
            </a:endParaRPr>
          </a:p>
        </p:txBody>
      </p:sp>
      <p:pic>
        <p:nvPicPr>
          <p:cNvPr id="3" name="Picture 2" descr="A graph of a graph with red and blue dots&#10;&#10;AI-generated content may be incorrect.">
            <a:extLst>
              <a:ext uri="{FF2B5EF4-FFF2-40B4-BE49-F238E27FC236}">
                <a16:creationId xmlns:a16="http://schemas.microsoft.com/office/drawing/2014/main" id="{294D43A1-E740-7F7F-6C4A-E3D65335DCD3}"/>
              </a:ext>
            </a:extLst>
          </p:cNvPr>
          <p:cNvPicPr>
            <a:picLocks noChangeAspect="1"/>
          </p:cNvPicPr>
          <p:nvPr/>
        </p:nvPicPr>
        <p:blipFill>
          <a:blip r:embed="rId4"/>
          <a:stretch>
            <a:fillRect/>
          </a:stretch>
        </p:blipFill>
        <p:spPr>
          <a:xfrm>
            <a:off x="4968781" y="673001"/>
            <a:ext cx="1797570" cy="1790089"/>
          </a:xfrm>
          <a:prstGeom prst="rect">
            <a:avLst/>
          </a:prstGeom>
        </p:spPr>
      </p:pic>
      <p:pic>
        <p:nvPicPr>
          <p:cNvPr id="7" name="Picture 6" descr="A graph of a number of assets&#10;&#10;AI-generated content may be incorrect.">
            <a:extLst>
              <a:ext uri="{FF2B5EF4-FFF2-40B4-BE49-F238E27FC236}">
                <a16:creationId xmlns:a16="http://schemas.microsoft.com/office/drawing/2014/main" id="{04B23554-3054-E4F5-1489-E4A8719886D7}"/>
              </a:ext>
            </a:extLst>
          </p:cNvPr>
          <p:cNvPicPr>
            <a:picLocks noChangeAspect="1"/>
          </p:cNvPicPr>
          <p:nvPr/>
        </p:nvPicPr>
        <p:blipFill>
          <a:blip r:embed="rId5"/>
          <a:stretch>
            <a:fillRect/>
          </a:stretch>
        </p:blipFill>
        <p:spPr>
          <a:xfrm>
            <a:off x="6304663" y="2571750"/>
            <a:ext cx="1866748" cy="1851298"/>
          </a:xfrm>
          <a:prstGeom prst="rect">
            <a:avLst/>
          </a:prstGeom>
        </p:spPr>
      </p:pic>
      <p:pic>
        <p:nvPicPr>
          <p:cNvPr id="11" name="Picture 10" descr="A graph of a number of assets&#10;&#10;AI-generated content may be incorrect.">
            <a:extLst>
              <a:ext uri="{FF2B5EF4-FFF2-40B4-BE49-F238E27FC236}">
                <a16:creationId xmlns:a16="http://schemas.microsoft.com/office/drawing/2014/main" id="{A7928CE7-468A-8C17-B469-91CE85E50C30}"/>
              </a:ext>
            </a:extLst>
          </p:cNvPr>
          <p:cNvPicPr>
            <a:picLocks noChangeAspect="1"/>
          </p:cNvPicPr>
          <p:nvPr/>
        </p:nvPicPr>
        <p:blipFill>
          <a:blip r:embed="rId6"/>
          <a:stretch>
            <a:fillRect/>
          </a:stretch>
        </p:blipFill>
        <p:spPr>
          <a:xfrm>
            <a:off x="7097103" y="673001"/>
            <a:ext cx="1797570" cy="179008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grpSp>
        <p:nvGrpSpPr>
          <p:cNvPr id="146" name="Google Shape;146;p19"/>
          <p:cNvGrpSpPr/>
          <p:nvPr/>
        </p:nvGrpSpPr>
        <p:grpSpPr>
          <a:xfrm>
            <a:off x="5271133" y="2533842"/>
            <a:ext cx="4262066" cy="271125"/>
            <a:chOff x="0" y="-95250"/>
            <a:chExt cx="11365509" cy="723000"/>
          </a:xfrm>
        </p:grpSpPr>
        <p:sp>
          <p:nvSpPr>
            <p:cNvPr id="147" name="Google Shape;147;p19"/>
            <p:cNvSpPr/>
            <p:nvPr/>
          </p:nvSpPr>
          <p:spPr>
            <a:xfrm>
              <a:off x="0" y="0"/>
              <a:ext cx="11365509" cy="627704"/>
            </a:xfrm>
            <a:custGeom>
              <a:avLst/>
              <a:gdLst/>
              <a:ahLst/>
              <a:cxnLst/>
              <a:rect l="l" t="t" r="r" b="b"/>
              <a:pathLst>
                <a:path w="11365509" h="627704" extrusionOk="0">
                  <a:moveTo>
                    <a:pt x="0" y="0"/>
                  </a:moveTo>
                  <a:lnTo>
                    <a:pt x="11365509" y="0"/>
                  </a:lnTo>
                  <a:lnTo>
                    <a:pt x="11365509" y="627704"/>
                  </a:lnTo>
                  <a:lnTo>
                    <a:pt x="0" y="627704"/>
                  </a:lnTo>
                  <a:close/>
                </a:path>
              </a:pathLst>
            </a:custGeom>
            <a:solidFill>
              <a:srgbClr val="000000">
                <a:alpha val="0"/>
              </a:srgbClr>
            </a:solidFill>
            <a:ln>
              <a:noFill/>
            </a:ln>
          </p:spPr>
          <p:txBody>
            <a:bodyPr spcFirstLastPara="1" wrap="square" lIns="45725" tIns="22850" rIns="45725" bIns="22850" anchor="t" anchorCtr="0">
              <a:noAutofit/>
            </a:bodyPr>
            <a:lstStyle/>
            <a:p>
              <a:pPr marL="0" marR="0" lvl="0" indent="0" algn="l" rtl="0">
                <a:spcBef>
                  <a:spcPts val="0"/>
                </a:spcBef>
                <a:spcAft>
                  <a:spcPts val="0"/>
                </a:spcAft>
                <a:buNone/>
              </a:pPr>
              <a:endParaRPr sz="900">
                <a:solidFill>
                  <a:schemeClr val="dk1"/>
                </a:solidFill>
                <a:latin typeface="Calibri"/>
                <a:ea typeface="Calibri"/>
                <a:cs typeface="Calibri"/>
                <a:sym typeface="Calibri"/>
              </a:endParaRPr>
            </a:p>
          </p:txBody>
        </p:sp>
        <p:sp>
          <p:nvSpPr>
            <p:cNvPr id="148" name="Google Shape;148;p19"/>
            <p:cNvSpPr txBox="1"/>
            <p:nvPr/>
          </p:nvSpPr>
          <p:spPr>
            <a:xfrm>
              <a:off x="0" y="-95250"/>
              <a:ext cx="11365500" cy="723000"/>
            </a:xfrm>
            <a:prstGeom prst="rect">
              <a:avLst/>
            </a:prstGeom>
            <a:noFill/>
            <a:ln>
              <a:noFill/>
            </a:ln>
          </p:spPr>
          <p:txBody>
            <a:bodyPr spcFirstLastPara="1" wrap="square" lIns="0" tIns="0" rIns="0" bIns="0" anchor="t" anchorCtr="0">
              <a:noAutofit/>
            </a:bodyPr>
            <a:lstStyle/>
            <a:p>
              <a:pPr marL="0" marR="0" lvl="0" indent="0" algn="l" rtl="0">
                <a:lnSpc>
                  <a:spcPct val="197888"/>
                </a:lnSpc>
                <a:spcBef>
                  <a:spcPts val="0"/>
                </a:spcBef>
                <a:spcAft>
                  <a:spcPts val="0"/>
                </a:spcAft>
                <a:buNone/>
              </a:pPr>
              <a:endParaRPr sz="900">
                <a:solidFill>
                  <a:schemeClr val="dk1"/>
                </a:solidFill>
                <a:latin typeface="Calibri"/>
                <a:ea typeface="Calibri"/>
                <a:cs typeface="Calibri"/>
                <a:sym typeface="Calibri"/>
              </a:endParaRPr>
            </a:p>
          </p:txBody>
        </p:sp>
      </p:grpSp>
      <p:sp>
        <p:nvSpPr>
          <p:cNvPr id="151" name="Google Shape;151;p19"/>
          <p:cNvSpPr txBox="1"/>
          <p:nvPr/>
        </p:nvSpPr>
        <p:spPr>
          <a:xfrm>
            <a:off x="383967" y="989230"/>
            <a:ext cx="3697582" cy="2123658"/>
          </a:xfrm>
          <a:prstGeom prst="rect">
            <a:avLst/>
          </a:prstGeom>
          <a:noFill/>
          <a:ln>
            <a:noFill/>
          </a:ln>
        </p:spPr>
        <p:txBody>
          <a:bodyPr spcFirstLastPara="1" wrap="square" lIns="0" tIns="0" rIns="0" bIns="0" anchor="t" anchorCtr="0">
            <a:spAutoFit/>
          </a:bodyPr>
          <a:lstStyle/>
          <a:p>
            <a:pPr marL="171450" indent="-171450">
              <a:lnSpc>
                <a:spcPct val="150000"/>
              </a:lnSpc>
              <a:buFont typeface="Wingdings" pitchFamily="2" charset="2"/>
              <a:buChar char="Ø"/>
            </a:pPr>
            <a:r>
              <a:rPr lang="en-IN" sz="1200" dirty="0">
                <a:latin typeface="Times New Roman" panose="02020603050405020304" pitchFamily="18" charset="0"/>
                <a:cs typeface="Times New Roman" panose="02020603050405020304" pitchFamily="18" charset="0"/>
              </a:rPr>
              <a:t>Measuring how strongly each feature is correlated with the target variable ('Bankrupt?’).</a:t>
            </a:r>
          </a:p>
          <a:p>
            <a:pPr marL="171450" indent="-171450">
              <a:lnSpc>
                <a:spcPct val="150000"/>
              </a:lnSpc>
              <a:buFont typeface="Wingdings" pitchFamily="2" charset="2"/>
              <a:buChar char="Ø"/>
            </a:pPr>
            <a:r>
              <a:rPr lang="en-IN" sz="1200" dirty="0">
                <a:latin typeface="Times New Roman" panose="02020603050405020304" pitchFamily="18" charset="0"/>
                <a:cs typeface="Times New Roman" panose="02020603050405020304" pitchFamily="18" charset="0"/>
              </a:rPr>
              <a:t>Finding the input features that have positive correlation</a:t>
            </a:r>
          </a:p>
          <a:p>
            <a:pPr marL="171450" indent="-171450">
              <a:lnSpc>
                <a:spcPct val="150000"/>
              </a:lnSpc>
              <a:buFont typeface="Wingdings" pitchFamily="2" charset="2"/>
              <a:buChar char="Ø"/>
            </a:pPr>
            <a:r>
              <a:rPr lang="en-IN" sz="1200" dirty="0">
                <a:latin typeface="Times New Roman" panose="02020603050405020304" pitchFamily="18" charset="0"/>
                <a:cs typeface="Times New Roman" panose="02020603050405020304" pitchFamily="18" charset="0"/>
              </a:rPr>
              <a:t>This helps </a:t>
            </a:r>
            <a:r>
              <a:rPr lang="en-IN" sz="1200" b="1" dirty="0">
                <a:latin typeface="Times New Roman" panose="02020603050405020304" pitchFamily="18" charset="0"/>
                <a:cs typeface="Times New Roman" panose="02020603050405020304" pitchFamily="18" charset="0"/>
              </a:rPr>
              <a:t>reduce irrelevant or weakly related features</a:t>
            </a:r>
            <a:r>
              <a:rPr lang="en-IN" sz="1200" dirty="0">
                <a:latin typeface="Times New Roman" panose="02020603050405020304" pitchFamily="18" charset="0"/>
                <a:cs typeface="Times New Roman" panose="02020603050405020304" pitchFamily="18" charset="0"/>
              </a:rPr>
              <a:t>, which can improve model performance and reduce overfitting.</a:t>
            </a:r>
          </a:p>
          <a:p>
            <a:pPr marL="171450" indent="-171450">
              <a:lnSpc>
                <a:spcPct val="150000"/>
              </a:lnSpc>
              <a:buFont typeface="Wingdings" pitchFamily="2" charset="2"/>
              <a:buChar char="Ø"/>
            </a:pPr>
            <a:r>
              <a:rPr lang="en-IN" sz="1200" dirty="0">
                <a:latin typeface="Times New Roman" panose="02020603050405020304" pitchFamily="18" charset="0"/>
                <a:cs typeface="Times New Roman" panose="02020603050405020304" pitchFamily="18" charset="0"/>
              </a:rPr>
              <a:t>Creating a new data frame with selected features. </a:t>
            </a:r>
          </a:p>
          <a:p>
            <a:endParaRPr lang="en-IN" sz="1200" dirty="0">
              <a:latin typeface="Times New Roman" panose="02020603050405020304" pitchFamily="18" charset="0"/>
              <a:cs typeface="Times New Roman" panose="02020603050405020304" pitchFamily="18" charset="0"/>
            </a:endParaRPr>
          </a:p>
        </p:txBody>
      </p:sp>
      <p:sp>
        <p:nvSpPr>
          <p:cNvPr id="155" name="Google Shape;155;p19"/>
          <p:cNvSpPr txBox="1"/>
          <p:nvPr/>
        </p:nvSpPr>
        <p:spPr>
          <a:xfrm>
            <a:off x="297409" y="226960"/>
            <a:ext cx="5326800" cy="461700"/>
          </a:xfrm>
          <a:prstGeom prst="rect">
            <a:avLst/>
          </a:prstGeom>
          <a:noFill/>
          <a:ln>
            <a:noFill/>
          </a:ln>
        </p:spPr>
        <p:txBody>
          <a:bodyPr spcFirstLastPara="1" wrap="square" lIns="0" tIns="0" rIns="0" bIns="0" anchor="t" anchorCtr="0">
            <a:spAutoFit/>
          </a:bodyPr>
          <a:lstStyle/>
          <a:p>
            <a:pPr marL="0" marR="0" lvl="0" indent="0" algn="l" rtl="0">
              <a:lnSpc>
                <a:spcPct val="115983"/>
              </a:lnSpc>
              <a:spcBef>
                <a:spcPts val="0"/>
              </a:spcBef>
              <a:spcAft>
                <a:spcPts val="0"/>
              </a:spcAft>
              <a:buNone/>
            </a:pPr>
            <a:r>
              <a:rPr lang="en" sz="3000" b="1" dirty="0">
                <a:solidFill>
                  <a:srgbClr val="9A5C2E"/>
                </a:solidFill>
                <a:latin typeface="Arial"/>
                <a:ea typeface="Arial"/>
                <a:cs typeface="Arial"/>
                <a:sym typeface="Arial"/>
              </a:rPr>
              <a:t>DAT</a:t>
            </a:r>
            <a:r>
              <a:rPr lang="en" sz="3000" b="1" u="none" strike="noStrike" dirty="0">
                <a:solidFill>
                  <a:srgbClr val="9A5C2E"/>
                </a:solidFill>
                <a:latin typeface="Arial"/>
                <a:ea typeface="Arial"/>
                <a:cs typeface="Arial"/>
                <a:sym typeface="Arial"/>
              </a:rPr>
              <a:t>A PROCESSING</a:t>
            </a:r>
            <a:endParaRPr sz="700" dirty="0"/>
          </a:p>
        </p:txBody>
      </p:sp>
      <p:sp>
        <p:nvSpPr>
          <p:cNvPr id="156" name="Google Shape;156;p19"/>
          <p:cNvSpPr txBox="1"/>
          <p:nvPr/>
        </p:nvSpPr>
        <p:spPr>
          <a:xfrm>
            <a:off x="5991499" y="4862183"/>
            <a:ext cx="1236600" cy="329700"/>
          </a:xfrm>
          <a:prstGeom prst="rect">
            <a:avLst/>
          </a:prstGeom>
          <a:noFill/>
          <a:ln>
            <a:noFill/>
          </a:ln>
        </p:spPr>
        <p:txBody>
          <a:bodyPr spcFirstLastPara="1" wrap="square" lIns="0" tIns="0" rIns="0" bIns="0" anchor="t" anchorCtr="0">
            <a:spAutoFit/>
          </a:bodyPr>
          <a:lstStyle/>
          <a:p>
            <a:pPr marL="0" marR="0" lvl="0" indent="0" algn="ctr" rtl="0">
              <a:lnSpc>
                <a:spcPct val="138080"/>
              </a:lnSpc>
              <a:spcBef>
                <a:spcPts val="0"/>
              </a:spcBef>
              <a:spcAft>
                <a:spcPts val="0"/>
              </a:spcAft>
              <a:buNone/>
            </a:pPr>
            <a:r>
              <a:rPr lang="en" sz="900" b="1" dirty="0">
                <a:solidFill>
                  <a:srgbClr val="000000"/>
                </a:solidFill>
                <a:latin typeface="Montserrat"/>
                <a:ea typeface="Montserrat"/>
                <a:cs typeface="Montserrat"/>
                <a:sym typeface="Montserrat"/>
              </a:rPr>
              <a:t>Data preprocessing</a:t>
            </a:r>
            <a:endParaRPr sz="700" dirty="0"/>
          </a:p>
          <a:p>
            <a:pPr marL="0" marR="0" lvl="0" indent="0" algn="ctr" rtl="0">
              <a:lnSpc>
                <a:spcPct val="138007"/>
              </a:lnSpc>
              <a:spcBef>
                <a:spcPts val="0"/>
              </a:spcBef>
              <a:spcAft>
                <a:spcPts val="0"/>
              </a:spcAft>
              <a:buNone/>
            </a:pPr>
            <a:endParaRPr sz="900" b="1" dirty="0">
              <a:solidFill>
                <a:srgbClr val="000000"/>
              </a:solidFill>
              <a:latin typeface="Montserrat"/>
              <a:ea typeface="Montserrat"/>
              <a:cs typeface="Montserrat"/>
              <a:sym typeface="Montserrat"/>
            </a:endParaRPr>
          </a:p>
        </p:txBody>
      </p:sp>
      <p:sp>
        <p:nvSpPr>
          <p:cNvPr id="157" name="Google Shape;157;p19"/>
          <p:cNvSpPr/>
          <p:nvPr/>
        </p:nvSpPr>
        <p:spPr>
          <a:xfrm>
            <a:off x="0" y="3767619"/>
            <a:ext cx="3119122" cy="1395749"/>
          </a:xfrm>
          <a:custGeom>
            <a:avLst/>
            <a:gdLst/>
            <a:ahLst/>
            <a:cxnLst/>
            <a:rect l="l" t="t" r="r" b="b"/>
            <a:pathLst>
              <a:path w="14057680" h="8229600" extrusionOk="0">
                <a:moveTo>
                  <a:pt x="0" y="0"/>
                </a:moveTo>
                <a:lnTo>
                  <a:pt x="14057680" y="0"/>
                </a:lnTo>
                <a:lnTo>
                  <a:pt x="14057680" y="8229600"/>
                </a:lnTo>
                <a:lnTo>
                  <a:pt x="0" y="8229600"/>
                </a:lnTo>
                <a:lnTo>
                  <a:pt x="0" y="0"/>
                </a:lnTo>
                <a:close/>
              </a:path>
            </a:pathLst>
          </a:custGeom>
          <a:blipFill rotWithShape="1">
            <a:blip r:embed="rId3">
              <a:alphaModFix/>
            </a:blip>
            <a:stretch>
              <a:fillRect/>
            </a:stretch>
          </a:blipFill>
          <a:ln>
            <a:noFill/>
          </a:ln>
        </p:spPr>
        <p:txBody>
          <a:bodyPr spcFirstLastPara="1" wrap="square" lIns="45725" tIns="22850" rIns="45725" bIns="22850" anchor="t" anchorCtr="0">
            <a:noAutofit/>
          </a:bodyPr>
          <a:lstStyle/>
          <a:p>
            <a:pPr marL="0" marR="0" lvl="0" indent="0" algn="l" rtl="0">
              <a:spcBef>
                <a:spcPts val="0"/>
              </a:spcBef>
              <a:spcAft>
                <a:spcPts val="0"/>
              </a:spcAft>
              <a:buNone/>
            </a:pPr>
            <a:endParaRPr sz="900">
              <a:solidFill>
                <a:schemeClr val="dk1"/>
              </a:solidFill>
              <a:latin typeface="Calibri"/>
              <a:ea typeface="Calibri"/>
              <a:cs typeface="Calibri"/>
              <a:sym typeface="Calibri"/>
            </a:endParaRPr>
          </a:p>
        </p:txBody>
      </p:sp>
      <p:pic>
        <p:nvPicPr>
          <p:cNvPr id="6" name="Picture 5" descr="A screen shot of a computer code&#10;&#10;AI-generated content may be incorrect.">
            <a:extLst>
              <a:ext uri="{FF2B5EF4-FFF2-40B4-BE49-F238E27FC236}">
                <a16:creationId xmlns:a16="http://schemas.microsoft.com/office/drawing/2014/main" id="{04C8BD97-01C7-70E6-2264-5E0D8118FAEE}"/>
              </a:ext>
            </a:extLst>
          </p:cNvPr>
          <p:cNvPicPr>
            <a:picLocks noChangeAspect="1"/>
          </p:cNvPicPr>
          <p:nvPr/>
        </p:nvPicPr>
        <p:blipFill>
          <a:blip r:embed="rId4"/>
          <a:stretch>
            <a:fillRect/>
          </a:stretch>
        </p:blipFill>
        <p:spPr>
          <a:xfrm>
            <a:off x="4248984" y="844310"/>
            <a:ext cx="4721629" cy="960341"/>
          </a:xfrm>
          <a:prstGeom prst="rect">
            <a:avLst/>
          </a:prstGeom>
        </p:spPr>
      </p:pic>
      <p:pic>
        <p:nvPicPr>
          <p:cNvPr id="8" name="Picture 7" descr="A screenshot of a computer screen&#10;&#10;AI-generated content may be incorrect.">
            <a:extLst>
              <a:ext uri="{FF2B5EF4-FFF2-40B4-BE49-F238E27FC236}">
                <a16:creationId xmlns:a16="http://schemas.microsoft.com/office/drawing/2014/main" id="{19357F0B-B469-F0AF-C498-386C2B270F0D}"/>
              </a:ext>
            </a:extLst>
          </p:cNvPr>
          <p:cNvPicPr>
            <a:picLocks noChangeAspect="1"/>
          </p:cNvPicPr>
          <p:nvPr/>
        </p:nvPicPr>
        <p:blipFill>
          <a:blip r:embed="rId5"/>
          <a:stretch>
            <a:fillRect/>
          </a:stretch>
        </p:blipFill>
        <p:spPr>
          <a:xfrm>
            <a:off x="4237161" y="1804651"/>
            <a:ext cx="2011198" cy="2038312"/>
          </a:xfrm>
          <a:prstGeom prst="rect">
            <a:avLst/>
          </a:prstGeom>
        </p:spPr>
      </p:pic>
      <p:pic>
        <p:nvPicPr>
          <p:cNvPr id="10" name="Picture 9" descr="A screenshot of a computer code&#10;&#10;AI-generated content may be incorrect.">
            <a:extLst>
              <a:ext uri="{FF2B5EF4-FFF2-40B4-BE49-F238E27FC236}">
                <a16:creationId xmlns:a16="http://schemas.microsoft.com/office/drawing/2014/main" id="{0753B2E9-76C6-8166-22B4-9767573153CE}"/>
              </a:ext>
            </a:extLst>
          </p:cNvPr>
          <p:cNvPicPr>
            <a:picLocks noChangeAspect="1"/>
          </p:cNvPicPr>
          <p:nvPr/>
        </p:nvPicPr>
        <p:blipFill>
          <a:blip r:embed="rId6"/>
          <a:stretch>
            <a:fillRect/>
          </a:stretch>
        </p:blipFill>
        <p:spPr>
          <a:xfrm>
            <a:off x="4235476" y="3842963"/>
            <a:ext cx="4735137" cy="82694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57;p19">
            <a:extLst>
              <a:ext uri="{FF2B5EF4-FFF2-40B4-BE49-F238E27FC236}">
                <a16:creationId xmlns:a16="http://schemas.microsoft.com/office/drawing/2014/main" id="{E6E8746A-9DA6-C7EB-1A80-DA92F15FC2F1}"/>
              </a:ext>
            </a:extLst>
          </p:cNvPr>
          <p:cNvSpPr/>
          <p:nvPr/>
        </p:nvSpPr>
        <p:spPr>
          <a:xfrm>
            <a:off x="0" y="3767619"/>
            <a:ext cx="3119122" cy="1395749"/>
          </a:xfrm>
          <a:custGeom>
            <a:avLst/>
            <a:gdLst/>
            <a:ahLst/>
            <a:cxnLst/>
            <a:rect l="l" t="t" r="r" b="b"/>
            <a:pathLst>
              <a:path w="14057680" h="8229600" extrusionOk="0">
                <a:moveTo>
                  <a:pt x="0" y="0"/>
                </a:moveTo>
                <a:lnTo>
                  <a:pt x="14057680" y="0"/>
                </a:lnTo>
                <a:lnTo>
                  <a:pt x="14057680" y="8229600"/>
                </a:lnTo>
                <a:lnTo>
                  <a:pt x="0" y="8229600"/>
                </a:lnTo>
                <a:lnTo>
                  <a:pt x="0" y="0"/>
                </a:lnTo>
                <a:close/>
              </a:path>
            </a:pathLst>
          </a:custGeom>
          <a:blipFill rotWithShape="1">
            <a:blip r:embed="rId2">
              <a:alphaModFix/>
            </a:blip>
            <a:stretch>
              <a:fillRect/>
            </a:stretch>
          </a:blipFill>
          <a:ln>
            <a:noFill/>
          </a:ln>
        </p:spPr>
        <p:txBody>
          <a:bodyPr spcFirstLastPara="1" wrap="square" lIns="45725" tIns="22850" rIns="45725" bIns="22850" anchor="t" anchorCtr="0">
            <a:noAutofit/>
          </a:bodyPr>
          <a:lstStyle/>
          <a:p>
            <a:pPr marL="0" marR="0" lvl="0" indent="0" algn="l" rtl="0">
              <a:spcBef>
                <a:spcPts val="0"/>
              </a:spcBef>
              <a:spcAft>
                <a:spcPts val="0"/>
              </a:spcAft>
              <a:buNone/>
            </a:pPr>
            <a:endParaRPr sz="900">
              <a:solidFill>
                <a:schemeClr val="dk1"/>
              </a:solidFill>
              <a:latin typeface="Calibri"/>
              <a:ea typeface="Calibri"/>
              <a:cs typeface="Calibri"/>
              <a:sym typeface="Calibri"/>
            </a:endParaRPr>
          </a:p>
        </p:txBody>
      </p:sp>
      <p:sp>
        <p:nvSpPr>
          <p:cNvPr id="4" name="Google Shape;155;p19">
            <a:extLst>
              <a:ext uri="{FF2B5EF4-FFF2-40B4-BE49-F238E27FC236}">
                <a16:creationId xmlns:a16="http://schemas.microsoft.com/office/drawing/2014/main" id="{C4604698-4BD6-3EA5-DF48-BEE39C0045D9}"/>
              </a:ext>
            </a:extLst>
          </p:cNvPr>
          <p:cNvSpPr txBox="1"/>
          <p:nvPr/>
        </p:nvSpPr>
        <p:spPr>
          <a:xfrm>
            <a:off x="297409" y="226960"/>
            <a:ext cx="5326800" cy="535531"/>
          </a:xfrm>
          <a:prstGeom prst="rect">
            <a:avLst/>
          </a:prstGeom>
          <a:noFill/>
          <a:ln>
            <a:noFill/>
          </a:ln>
        </p:spPr>
        <p:txBody>
          <a:bodyPr spcFirstLastPara="1" wrap="square" lIns="0" tIns="0" rIns="0" bIns="0" anchor="t" anchorCtr="0">
            <a:spAutoFit/>
          </a:bodyPr>
          <a:lstStyle/>
          <a:p>
            <a:pPr marL="0" marR="0" lvl="0" indent="0" algn="l" rtl="0">
              <a:lnSpc>
                <a:spcPct val="115983"/>
              </a:lnSpc>
              <a:spcBef>
                <a:spcPts val="0"/>
              </a:spcBef>
              <a:spcAft>
                <a:spcPts val="0"/>
              </a:spcAft>
              <a:buNone/>
            </a:pPr>
            <a:r>
              <a:rPr lang="en" sz="3000" b="1" dirty="0">
                <a:solidFill>
                  <a:srgbClr val="9A5C2E"/>
                </a:solidFill>
              </a:rPr>
              <a:t>CLASS BALANCING</a:t>
            </a:r>
            <a:endParaRPr sz="700" dirty="0"/>
          </a:p>
        </p:txBody>
      </p:sp>
      <p:sp>
        <p:nvSpPr>
          <p:cNvPr id="6" name="TextBox 5">
            <a:extLst>
              <a:ext uri="{FF2B5EF4-FFF2-40B4-BE49-F238E27FC236}">
                <a16:creationId xmlns:a16="http://schemas.microsoft.com/office/drawing/2014/main" id="{AE515AF4-D911-E6F7-F877-53FF11039FDB}"/>
              </a:ext>
            </a:extLst>
          </p:cNvPr>
          <p:cNvSpPr txBox="1"/>
          <p:nvPr/>
        </p:nvSpPr>
        <p:spPr>
          <a:xfrm>
            <a:off x="297409" y="899734"/>
            <a:ext cx="4274591" cy="1384995"/>
          </a:xfrm>
          <a:prstGeom prst="rect">
            <a:avLst/>
          </a:prstGeom>
          <a:noFill/>
        </p:spPr>
        <p:txBody>
          <a:bodyPr wrap="square">
            <a:spAutoFit/>
          </a:bodyPr>
          <a:lstStyle/>
          <a:p>
            <a:pPr marL="171450" indent="-171450">
              <a:buFont typeface="Wingdings" pitchFamily="2" charset="2"/>
              <a:buChar char="Ø"/>
            </a:pPr>
            <a:r>
              <a:rPr lang="en-IN" sz="1200" b="0" i="0" u="none" strike="noStrike" dirty="0">
                <a:solidFill>
                  <a:srgbClr val="000000"/>
                </a:solidFill>
                <a:effectLst/>
                <a:latin typeface="Times New Roman" panose="02020603050405020304" pitchFamily="18" charset="0"/>
                <a:cs typeface="Times New Roman" panose="02020603050405020304" pitchFamily="18" charset="0"/>
              </a:rPr>
              <a:t>To address the class imbalance present in the original dataset, we applied </a:t>
            </a:r>
            <a:r>
              <a:rPr lang="en-IN" sz="1200" b="1" i="0" u="none" strike="noStrike" dirty="0">
                <a:solidFill>
                  <a:srgbClr val="000000"/>
                </a:solidFill>
                <a:effectLst/>
                <a:latin typeface="Times New Roman" panose="02020603050405020304" pitchFamily="18" charset="0"/>
                <a:cs typeface="Times New Roman" panose="02020603050405020304" pitchFamily="18" charset="0"/>
              </a:rPr>
              <a:t>Random Under-Sampling</a:t>
            </a:r>
            <a:r>
              <a:rPr lang="en-IN" sz="1200" b="0" i="0" u="none" strike="noStrike" dirty="0">
                <a:solidFill>
                  <a:srgbClr val="000000"/>
                </a:solidFill>
                <a:effectLst/>
                <a:latin typeface="Times New Roman" panose="02020603050405020304" pitchFamily="18" charset="0"/>
                <a:cs typeface="Times New Roman" panose="02020603050405020304" pitchFamily="18" charset="0"/>
              </a:rPr>
              <a:t> using the </a:t>
            </a:r>
            <a:r>
              <a:rPr lang="en-IN" sz="1200" dirty="0">
                <a:latin typeface="Times New Roman" panose="02020603050405020304" pitchFamily="18" charset="0"/>
                <a:cs typeface="Times New Roman" panose="02020603050405020304" pitchFamily="18" charset="0"/>
              </a:rPr>
              <a:t>Random Under Sampler</a:t>
            </a:r>
            <a:r>
              <a:rPr lang="en-IN" sz="1200" b="0" i="0" u="none" strike="noStrike" dirty="0">
                <a:solidFill>
                  <a:srgbClr val="000000"/>
                </a:solidFill>
                <a:effectLst/>
                <a:latin typeface="Times New Roman" panose="02020603050405020304" pitchFamily="18" charset="0"/>
                <a:cs typeface="Times New Roman" panose="02020603050405020304" pitchFamily="18" charset="0"/>
              </a:rPr>
              <a:t> method from the </a:t>
            </a:r>
            <a:r>
              <a:rPr lang="en-IN" sz="1200" dirty="0" err="1">
                <a:latin typeface="Times New Roman" panose="02020603050405020304" pitchFamily="18" charset="0"/>
                <a:cs typeface="Times New Roman" panose="02020603050405020304" pitchFamily="18" charset="0"/>
              </a:rPr>
              <a:t>imblearn</a:t>
            </a:r>
            <a:r>
              <a:rPr lang="en-IN" sz="1200" b="0" i="0" u="none" strike="noStrike" dirty="0">
                <a:solidFill>
                  <a:srgbClr val="000000"/>
                </a:solidFill>
                <a:effectLst/>
                <a:latin typeface="Times New Roman" panose="02020603050405020304" pitchFamily="18" charset="0"/>
                <a:cs typeface="Times New Roman" panose="02020603050405020304" pitchFamily="18" charset="0"/>
              </a:rPr>
              <a:t> library. </a:t>
            </a:r>
          </a:p>
          <a:p>
            <a:pPr marL="171450" indent="-171450">
              <a:buFont typeface="Wingdings" pitchFamily="2" charset="2"/>
              <a:buChar char="Ø"/>
            </a:pPr>
            <a:r>
              <a:rPr lang="en-IN" sz="1200" b="0" i="0" u="none" strike="noStrike" dirty="0">
                <a:solidFill>
                  <a:srgbClr val="000000"/>
                </a:solidFill>
                <a:effectLst/>
                <a:latin typeface="Times New Roman" panose="02020603050405020304" pitchFamily="18" charset="0"/>
                <a:cs typeface="Times New Roman" panose="02020603050405020304" pitchFamily="18" charset="0"/>
              </a:rPr>
              <a:t>This technique balances the dataset by randomly removing samples from the majority class, ensuring both classes have an equal number of observations.</a:t>
            </a:r>
          </a:p>
          <a:p>
            <a:endParaRPr lang="en-US" sz="12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468E8079-AA32-F694-49B9-AFA27C62EB1C}"/>
              </a:ext>
            </a:extLst>
          </p:cNvPr>
          <p:cNvSpPr txBox="1"/>
          <p:nvPr/>
        </p:nvSpPr>
        <p:spPr>
          <a:xfrm>
            <a:off x="297409" y="2167181"/>
            <a:ext cx="4572000" cy="1200329"/>
          </a:xfrm>
          <a:prstGeom prst="rect">
            <a:avLst/>
          </a:prstGeom>
          <a:noFill/>
        </p:spPr>
        <p:txBody>
          <a:bodyPr wrap="square">
            <a:spAutoFit/>
          </a:bodyPr>
          <a:lstStyle/>
          <a:p>
            <a:pPr marL="171450" indent="-171450">
              <a:buFont typeface="Wingdings" pitchFamily="2" charset="2"/>
              <a:buChar char="Ø"/>
            </a:pPr>
            <a:r>
              <a:rPr lang="en-IN" sz="1200" b="0" i="0" u="none" strike="noStrike" dirty="0">
                <a:solidFill>
                  <a:srgbClr val="000000"/>
                </a:solidFill>
                <a:effectLst/>
                <a:latin typeface="Times New Roman" panose="02020603050405020304" pitchFamily="18" charset="0"/>
                <a:cs typeface="Times New Roman" panose="02020603050405020304" pitchFamily="18" charset="0"/>
              </a:rPr>
              <a:t>To verify the effectiveness of the down sampling, we generated a </a:t>
            </a:r>
            <a:r>
              <a:rPr lang="en-IN" sz="1200" b="1" i="0" u="none" strike="noStrike" dirty="0">
                <a:solidFill>
                  <a:srgbClr val="000000"/>
                </a:solidFill>
                <a:effectLst/>
                <a:latin typeface="Times New Roman" panose="02020603050405020304" pitchFamily="18" charset="0"/>
                <a:cs typeface="Times New Roman" panose="02020603050405020304" pitchFamily="18" charset="0"/>
              </a:rPr>
              <a:t>count plot</a:t>
            </a:r>
            <a:r>
              <a:rPr lang="en-IN" sz="1200" b="0" i="0" u="none" strike="noStrike" dirty="0">
                <a:solidFill>
                  <a:srgbClr val="000000"/>
                </a:solidFill>
                <a:effectLst/>
                <a:latin typeface="Times New Roman" panose="02020603050405020304" pitchFamily="18" charset="0"/>
                <a:cs typeface="Times New Roman" panose="02020603050405020304" pitchFamily="18" charset="0"/>
              </a:rPr>
              <a:t> using Seaborn to visualize the distribution of the target variable </a:t>
            </a:r>
            <a:r>
              <a:rPr lang="en-IN" sz="1200" dirty="0">
                <a:latin typeface="Times New Roman" panose="02020603050405020304" pitchFamily="18" charset="0"/>
                <a:cs typeface="Times New Roman" panose="02020603050405020304" pitchFamily="18" charset="0"/>
              </a:rPr>
              <a:t>'Bankrupt?'</a:t>
            </a:r>
            <a:r>
              <a:rPr lang="en-IN" sz="1200" b="0" i="0" u="none" strike="noStrike" dirty="0">
                <a:solidFill>
                  <a:srgbClr val="000000"/>
                </a:solidFill>
                <a:effectLst/>
                <a:latin typeface="Times New Roman" panose="02020603050405020304" pitchFamily="18" charset="0"/>
                <a:cs typeface="Times New Roman" panose="02020603050405020304" pitchFamily="18" charset="0"/>
              </a:rPr>
              <a:t> after resampling. </a:t>
            </a:r>
          </a:p>
          <a:p>
            <a:pPr marL="171450" indent="-171450">
              <a:buFont typeface="Wingdings" pitchFamily="2" charset="2"/>
              <a:buChar char="Ø"/>
            </a:pPr>
            <a:r>
              <a:rPr lang="en-IN" sz="1200" b="0" i="0" u="none" strike="noStrike" dirty="0">
                <a:solidFill>
                  <a:srgbClr val="000000"/>
                </a:solidFill>
                <a:effectLst/>
                <a:latin typeface="Times New Roman" panose="02020603050405020304" pitchFamily="18" charset="0"/>
                <a:cs typeface="Times New Roman" panose="02020603050405020304" pitchFamily="18" charset="0"/>
              </a:rPr>
              <a:t>The resulting bar chart clearly shows that the number of bankrupt and non-bankrupt companies is now equal, confirming that the dataset has been successfully balanced.</a:t>
            </a:r>
            <a:endParaRPr lang="en-US" sz="1200" dirty="0">
              <a:latin typeface="Times New Roman" panose="02020603050405020304" pitchFamily="18" charset="0"/>
              <a:cs typeface="Times New Roman" panose="02020603050405020304" pitchFamily="18" charset="0"/>
            </a:endParaRPr>
          </a:p>
        </p:txBody>
      </p:sp>
      <p:pic>
        <p:nvPicPr>
          <p:cNvPr id="10" name="Picture 9" descr="A graph of a number of green and blue squares&#10;&#10;AI-generated content may be incorrect.">
            <a:extLst>
              <a:ext uri="{FF2B5EF4-FFF2-40B4-BE49-F238E27FC236}">
                <a16:creationId xmlns:a16="http://schemas.microsoft.com/office/drawing/2014/main" id="{1A5C731A-6BBC-5ADC-E840-240941B9A8B7}"/>
              </a:ext>
            </a:extLst>
          </p:cNvPr>
          <p:cNvPicPr>
            <a:picLocks noChangeAspect="1"/>
          </p:cNvPicPr>
          <p:nvPr/>
        </p:nvPicPr>
        <p:blipFill>
          <a:blip r:embed="rId3"/>
          <a:stretch>
            <a:fillRect/>
          </a:stretch>
        </p:blipFill>
        <p:spPr>
          <a:xfrm>
            <a:off x="5199527" y="566981"/>
            <a:ext cx="3337643" cy="3200400"/>
          </a:xfrm>
          <a:prstGeom prst="rect">
            <a:avLst/>
          </a:prstGeom>
        </p:spPr>
      </p:pic>
    </p:spTree>
    <p:extLst>
      <p:ext uri="{BB962C8B-B14F-4D97-AF65-F5344CB8AC3E}">
        <p14:creationId xmlns:p14="http://schemas.microsoft.com/office/powerpoint/2010/main" val="5285581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0"/>
          <p:cNvSpPr/>
          <p:nvPr/>
        </p:nvSpPr>
        <p:spPr>
          <a:xfrm flipH="1">
            <a:off x="6683433" y="3782327"/>
            <a:ext cx="2460567" cy="1361173"/>
          </a:xfrm>
          <a:custGeom>
            <a:avLst/>
            <a:gdLst/>
            <a:ahLst/>
            <a:cxnLst/>
            <a:rect l="l" t="t" r="r" b="b"/>
            <a:pathLst>
              <a:path w="14057680" h="8229600" extrusionOk="0">
                <a:moveTo>
                  <a:pt x="0" y="0"/>
                </a:moveTo>
                <a:lnTo>
                  <a:pt x="14057680" y="0"/>
                </a:lnTo>
                <a:lnTo>
                  <a:pt x="14057680" y="8229600"/>
                </a:lnTo>
                <a:lnTo>
                  <a:pt x="0" y="8229600"/>
                </a:lnTo>
                <a:lnTo>
                  <a:pt x="0" y="0"/>
                </a:lnTo>
                <a:close/>
              </a:path>
            </a:pathLst>
          </a:custGeom>
          <a:blipFill rotWithShape="1">
            <a:blip r:embed="rId3">
              <a:alphaModFix/>
            </a:blip>
            <a:stretch>
              <a:fillRect/>
            </a:stretch>
          </a:blipFill>
          <a:ln>
            <a:noFill/>
          </a:ln>
        </p:spPr>
        <p:txBody>
          <a:bodyPr spcFirstLastPara="1" wrap="square" lIns="45725" tIns="22850" rIns="45725" bIns="22850" anchor="t" anchorCtr="0">
            <a:noAutofit/>
          </a:bodyPr>
          <a:lstStyle/>
          <a:p>
            <a:pPr marL="0" marR="0" lvl="0" indent="0" algn="l" rtl="0">
              <a:spcBef>
                <a:spcPts val="0"/>
              </a:spcBef>
              <a:spcAft>
                <a:spcPts val="0"/>
              </a:spcAft>
              <a:buNone/>
            </a:pPr>
            <a:endParaRPr sz="900">
              <a:solidFill>
                <a:schemeClr val="dk1"/>
              </a:solidFill>
              <a:latin typeface="Calibri"/>
              <a:ea typeface="Calibri"/>
              <a:cs typeface="Calibri"/>
              <a:sym typeface="Calibri"/>
            </a:endParaRPr>
          </a:p>
        </p:txBody>
      </p:sp>
      <p:sp>
        <p:nvSpPr>
          <p:cNvPr id="170" name="Google Shape;170;p20"/>
          <p:cNvSpPr txBox="1"/>
          <p:nvPr/>
        </p:nvSpPr>
        <p:spPr>
          <a:xfrm>
            <a:off x="514349" y="350865"/>
            <a:ext cx="6401839" cy="535531"/>
          </a:xfrm>
          <a:prstGeom prst="rect">
            <a:avLst/>
          </a:prstGeom>
          <a:noFill/>
          <a:ln>
            <a:noFill/>
          </a:ln>
        </p:spPr>
        <p:txBody>
          <a:bodyPr spcFirstLastPara="1" wrap="square" lIns="0" tIns="0" rIns="0" bIns="0" anchor="t" anchorCtr="0">
            <a:spAutoFit/>
          </a:bodyPr>
          <a:lstStyle/>
          <a:p>
            <a:pPr marL="0" marR="0" lvl="0" indent="0" algn="l" rtl="0">
              <a:lnSpc>
                <a:spcPct val="115983"/>
              </a:lnSpc>
              <a:spcBef>
                <a:spcPts val="0"/>
              </a:spcBef>
              <a:spcAft>
                <a:spcPts val="0"/>
              </a:spcAft>
              <a:buNone/>
            </a:pPr>
            <a:r>
              <a:rPr lang="en" sz="3000" b="1" dirty="0">
                <a:solidFill>
                  <a:srgbClr val="9A5C2E"/>
                </a:solidFill>
                <a:latin typeface="Arial"/>
                <a:ea typeface="Arial"/>
                <a:cs typeface="Arial"/>
                <a:sym typeface="Arial"/>
              </a:rPr>
              <a:t>DATA SPLIT &amp; MODEL TR</a:t>
            </a:r>
            <a:r>
              <a:rPr lang="en" sz="3000" b="1" u="none" strike="noStrike" dirty="0">
                <a:solidFill>
                  <a:srgbClr val="9A5C2E"/>
                </a:solidFill>
                <a:latin typeface="Arial"/>
                <a:ea typeface="Arial"/>
                <a:cs typeface="Arial"/>
                <a:sym typeface="Arial"/>
              </a:rPr>
              <a:t>AINING</a:t>
            </a:r>
            <a:endParaRPr sz="700" dirty="0"/>
          </a:p>
        </p:txBody>
      </p:sp>
      <p:sp>
        <p:nvSpPr>
          <p:cNvPr id="3" name="TextBox 2">
            <a:extLst>
              <a:ext uri="{FF2B5EF4-FFF2-40B4-BE49-F238E27FC236}">
                <a16:creationId xmlns:a16="http://schemas.microsoft.com/office/drawing/2014/main" id="{B9344CAA-7E2A-5B67-85E4-577D6AB21457}"/>
              </a:ext>
            </a:extLst>
          </p:cNvPr>
          <p:cNvSpPr txBox="1"/>
          <p:nvPr/>
        </p:nvSpPr>
        <p:spPr>
          <a:xfrm>
            <a:off x="376151" y="1035175"/>
            <a:ext cx="4470169" cy="1015663"/>
          </a:xfrm>
          <a:prstGeom prst="rect">
            <a:avLst/>
          </a:prstGeom>
          <a:noFill/>
        </p:spPr>
        <p:txBody>
          <a:bodyPr wrap="square">
            <a:spAutoFit/>
          </a:bodyPr>
          <a:lstStyle/>
          <a:p>
            <a:pPr marL="171450" indent="-171450">
              <a:buFont typeface="Wingdings" pitchFamily="2" charset="2"/>
              <a:buChar char="Ø"/>
            </a:pPr>
            <a:r>
              <a:rPr lang="en-IN" sz="1200" b="0" i="0" u="none" strike="noStrike" dirty="0">
                <a:solidFill>
                  <a:srgbClr val="000000"/>
                </a:solidFill>
                <a:effectLst/>
                <a:latin typeface="Times New Roman" panose="02020603050405020304" pitchFamily="18" charset="0"/>
                <a:cs typeface="Times New Roman" panose="02020603050405020304" pitchFamily="18" charset="0"/>
              </a:rPr>
              <a:t>To prepare the balanced dataset for model training and evaluation, I performed a </a:t>
            </a:r>
            <a:r>
              <a:rPr lang="en-IN" sz="1200" b="1" i="0" u="none" strike="noStrike" dirty="0">
                <a:solidFill>
                  <a:srgbClr val="000000"/>
                </a:solidFill>
                <a:effectLst/>
                <a:latin typeface="Times New Roman" panose="02020603050405020304" pitchFamily="18" charset="0"/>
                <a:cs typeface="Times New Roman" panose="02020603050405020304" pitchFamily="18" charset="0"/>
              </a:rPr>
              <a:t>train-test split</a:t>
            </a:r>
            <a:r>
              <a:rPr lang="en-IN" sz="1200" b="0" i="0" u="none" strike="noStrike" dirty="0">
                <a:solidFill>
                  <a:srgbClr val="000000"/>
                </a:solidFill>
                <a:effectLst/>
                <a:latin typeface="Times New Roman" panose="02020603050405020304" pitchFamily="18" charset="0"/>
                <a:cs typeface="Times New Roman" panose="02020603050405020304" pitchFamily="18" charset="0"/>
              </a:rPr>
              <a:t> using the </a:t>
            </a:r>
            <a:r>
              <a:rPr lang="en-IN" sz="1200" dirty="0">
                <a:latin typeface="Times New Roman" panose="02020603050405020304" pitchFamily="18" charset="0"/>
                <a:cs typeface="Times New Roman" panose="02020603050405020304" pitchFamily="18" charset="0"/>
              </a:rPr>
              <a:t>train, test and split</a:t>
            </a:r>
            <a:r>
              <a:rPr lang="en-IN" sz="1200" b="0" i="0" u="none" strike="noStrike" dirty="0">
                <a:solidFill>
                  <a:srgbClr val="000000"/>
                </a:solidFill>
                <a:effectLst/>
                <a:latin typeface="Times New Roman" panose="02020603050405020304" pitchFamily="18" charset="0"/>
                <a:cs typeface="Times New Roman" panose="02020603050405020304" pitchFamily="18" charset="0"/>
              </a:rPr>
              <a:t> function.</a:t>
            </a:r>
          </a:p>
          <a:p>
            <a:pPr marL="171450" indent="-171450">
              <a:buFont typeface="Wingdings" pitchFamily="2" charset="2"/>
              <a:buChar char="Ø"/>
            </a:pPr>
            <a:r>
              <a:rPr lang="en-IN" sz="1200" b="1" dirty="0">
                <a:latin typeface="Times New Roman" panose="02020603050405020304" pitchFamily="18" charset="0"/>
                <a:cs typeface="Times New Roman" panose="02020603050405020304" pitchFamily="18" charset="0"/>
              </a:rPr>
              <a:t>75% for training</a:t>
            </a:r>
            <a:r>
              <a:rPr lang="en-IN" sz="1200" dirty="0">
                <a:latin typeface="Times New Roman" panose="02020603050405020304" pitchFamily="18" charset="0"/>
                <a:cs typeface="Times New Roman" panose="02020603050405020304" pitchFamily="18" charset="0"/>
              </a:rPr>
              <a:t> the machine learning model.</a:t>
            </a:r>
          </a:p>
          <a:p>
            <a:pPr marL="171450" indent="-171450">
              <a:buFont typeface="Wingdings" pitchFamily="2" charset="2"/>
              <a:buChar char="Ø"/>
            </a:pPr>
            <a:r>
              <a:rPr lang="en-IN" sz="1200" b="1" dirty="0">
                <a:latin typeface="Times New Roman" panose="02020603050405020304" pitchFamily="18" charset="0"/>
                <a:cs typeface="Times New Roman" panose="02020603050405020304" pitchFamily="18" charset="0"/>
              </a:rPr>
              <a:t>25% for testing</a:t>
            </a:r>
            <a:r>
              <a:rPr lang="en-IN" sz="1200" dirty="0">
                <a:latin typeface="Times New Roman" panose="02020603050405020304" pitchFamily="18" charset="0"/>
                <a:cs typeface="Times New Roman" panose="02020603050405020304" pitchFamily="18" charset="0"/>
              </a:rPr>
              <a:t> the model's performance</a:t>
            </a:r>
            <a:endParaRPr lang="en-US" sz="12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E89452B-9427-D61D-4FB2-0C9FA4CD2A0F}"/>
              </a:ext>
            </a:extLst>
          </p:cNvPr>
          <p:cNvPicPr>
            <a:picLocks noChangeAspect="1"/>
          </p:cNvPicPr>
          <p:nvPr/>
        </p:nvPicPr>
        <p:blipFill>
          <a:blip r:embed="rId4"/>
          <a:stretch>
            <a:fillRect/>
          </a:stretch>
        </p:blipFill>
        <p:spPr>
          <a:xfrm>
            <a:off x="4846320" y="1117066"/>
            <a:ext cx="3921529" cy="686796"/>
          </a:xfrm>
          <a:prstGeom prst="rect">
            <a:avLst/>
          </a:prstGeom>
        </p:spPr>
      </p:pic>
      <p:sp>
        <p:nvSpPr>
          <p:cNvPr id="7" name="TextBox 6">
            <a:extLst>
              <a:ext uri="{FF2B5EF4-FFF2-40B4-BE49-F238E27FC236}">
                <a16:creationId xmlns:a16="http://schemas.microsoft.com/office/drawing/2014/main" id="{402D3299-4F7E-83EE-E032-3676F9476404}"/>
              </a:ext>
            </a:extLst>
          </p:cNvPr>
          <p:cNvSpPr txBox="1"/>
          <p:nvPr/>
        </p:nvSpPr>
        <p:spPr>
          <a:xfrm>
            <a:off x="376151" y="2034532"/>
            <a:ext cx="7412874" cy="461665"/>
          </a:xfrm>
          <a:prstGeom prst="rect">
            <a:avLst/>
          </a:prstGeom>
          <a:noFill/>
        </p:spPr>
        <p:txBody>
          <a:bodyPr wrap="square">
            <a:spAutoFit/>
          </a:bodyPr>
          <a:lstStyle/>
          <a:p>
            <a:pPr marL="171450" indent="-171450" algn="l">
              <a:buFont typeface="Wingdings" pitchFamily="2" charset="2"/>
              <a:buChar char="Ø"/>
            </a:pPr>
            <a:r>
              <a:rPr lang="en-IN" sz="1200" b="0" i="0" u="none" strike="noStrike" dirty="0">
                <a:solidFill>
                  <a:srgbClr val="000000"/>
                </a:solidFill>
                <a:effectLst/>
                <a:latin typeface="Times New Roman" panose="02020603050405020304" pitchFamily="18" charset="0"/>
                <a:cs typeface="Times New Roman" panose="02020603050405020304" pitchFamily="18" charset="0"/>
              </a:rPr>
              <a:t>To predict the bankruptcy status of companies, three different machine learning classification models were implemented and evaluated:</a:t>
            </a:r>
          </a:p>
        </p:txBody>
      </p:sp>
      <p:sp>
        <p:nvSpPr>
          <p:cNvPr id="9" name="TextBox 8">
            <a:extLst>
              <a:ext uri="{FF2B5EF4-FFF2-40B4-BE49-F238E27FC236}">
                <a16:creationId xmlns:a16="http://schemas.microsoft.com/office/drawing/2014/main" id="{1C4CDDC2-5A1C-0CED-97F1-321176D174CE}"/>
              </a:ext>
            </a:extLst>
          </p:cNvPr>
          <p:cNvSpPr txBox="1"/>
          <p:nvPr/>
        </p:nvSpPr>
        <p:spPr>
          <a:xfrm>
            <a:off x="1354975" y="2454918"/>
            <a:ext cx="4572000" cy="646331"/>
          </a:xfrm>
          <a:prstGeom prst="rect">
            <a:avLst/>
          </a:prstGeom>
          <a:noFill/>
        </p:spPr>
        <p:txBody>
          <a:bodyPr wrap="square">
            <a:spAutoFit/>
          </a:bodyPr>
          <a:lstStyle/>
          <a:p>
            <a:pPr marL="171450" indent="-171450" algn="l">
              <a:buFont typeface="Wingdings" pitchFamily="2" charset="2"/>
              <a:buChar char="ü"/>
            </a:pPr>
            <a:r>
              <a:rPr lang="en-IN" sz="1200" b="1" i="0" u="none" strike="noStrike" dirty="0" err="1">
                <a:solidFill>
                  <a:srgbClr val="000000"/>
                </a:solidFill>
                <a:effectLst/>
                <a:latin typeface="Times New Roman" panose="02020603050405020304" pitchFamily="18" charset="0"/>
                <a:cs typeface="Times New Roman" panose="02020603050405020304" pitchFamily="18" charset="0"/>
              </a:rPr>
              <a:t>XGBoost</a:t>
            </a:r>
            <a:r>
              <a:rPr lang="en-IN" sz="1200" b="1" i="0" u="none" strike="noStrike" dirty="0">
                <a:solidFill>
                  <a:srgbClr val="000000"/>
                </a:solidFill>
                <a:effectLst/>
                <a:latin typeface="Times New Roman" panose="02020603050405020304" pitchFamily="18" charset="0"/>
                <a:cs typeface="Times New Roman" panose="02020603050405020304" pitchFamily="18" charset="0"/>
              </a:rPr>
              <a:t> Classifier</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p>
            <a:pPr marL="171450" indent="-171450" algn="l">
              <a:buFont typeface="Wingdings" pitchFamily="2" charset="2"/>
              <a:buChar char="ü"/>
            </a:pPr>
            <a:r>
              <a:rPr lang="en-IN" sz="1200" b="1" i="0" u="none" strike="noStrike" dirty="0">
                <a:solidFill>
                  <a:srgbClr val="000000"/>
                </a:solidFill>
                <a:effectLst/>
                <a:latin typeface="Times New Roman" panose="02020603050405020304" pitchFamily="18" charset="0"/>
                <a:cs typeface="Times New Roman" panose="02020603050405020304" pitchFamily="18" charset="0"/>
              </a:rPr>
              <a:t>Random Forest Classifier</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p>
            <a:pPr marL="171450" indent="-171450" algn="l">
              <a:buFont typeface="Wingdings" pitchFamily="2" charset="2"/>
              <a:buChar char="ü"/>
            </a:pPr>
            <a:r>
              <a:rPr lang="en-IN" sz="1200" b="1" i="0" u="none" strike="noStrike" dirty="0">
                <a:solidFill>
                  <a:srgbClr val="000000"/>
                </a:solidFill>
                <a:effectLst/>
                <a:latin typeface="Times New Roman" panose="02020603050405020304" pitchFamily="18" charset="0"/>
                <a:cs typeface="Times New Roman" panose="02020603050405020304" pitchFamily="18" charset="0"/>
              </a:rPr>
              <a:t>Logistic Regression</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513F8B04-6BDC-AD15-F984-C179CB513490}"/>
              </a:ext>
            </a:extLst>
          </p:cNvPr>
          <p:cNvSpPr txBox="1"/>
          <p:nvPr/>
        </p:nvSpPr>
        <p:spPr>
          <a:xfrm>
            <a:off x="376151" y="3101249"/>
            <a:ext cx="6867353" cy="646331"/>
          </a:xfrm>
          <a:prstGeom prst="rect">
            <a:avLst/>
          </a:prstGeom>
          <a:noFill/>
        </p:spPr>
        <p:txBody>
          <a:bodyPr wrap="square">
            <a:spAutoFit/>
          </a:bodyPr>
          <a:lstStyle/>
          <a:p>
            <a:pPr marL="171450" indent="-171450">
              <a:buFont typeface="Wingdings" pitchFamily="2" charset="2"/>
              <a:buChar char="Ø"/>
            </a:pPr>
            <a:r>
              <a:rPr lang="en-IN" sz="1200" b="0" i="0" u="none" strike="noStrike" dirty="0">
                <a:solidFill>
                  <a:srgbClr val="000000"/>
                </a:solidFill>
                <a:effectLst/>
                <a:latin typeface="Times New Roman" panose="02020603050405020304" pitchFamily="18" charset="0"/>
                <a:cs typeface="Times New Roman" panose="02020603050405020304" pitchFamily="18" charset="0"/>
              </a:rPr>
              <a:t>Each model was trained on the </a:t>
            </a:r>
            <a:r>
              <a:rPr lang="en-IN" sz="1200" b="1" i="0" u="none" strike="noStrike" dirty="0">
                <a:solidFill>
                  <a:srgbClr val="000000"/>
                </a:solidFill>
                <a:effectLst/>
                <a:latin typeface="Times New Roman" panose="02020603050405020304" pitchFamily="18" charset="0"/>
                <a:cs typeface="Times New Roman" panose="02020603050405020304" pitchFamily="18" charset="0"/>
              </a:rPr>
              <a:t>down sampled training set</a:t>
            </a:r>
            <a:r>
              <a:rPr lang="en-IN" sz="1200" b="0" i="0" u="none" strike="noStrike" dirty="0">
                <a:solidFill>
                  <a:srgbClr val="000000"/>
                </a:solidFill>
                <a:effectLst/>
                <a:latin typeface="Times New Roman" panose="02020603050405020304" pitchFamily="18" charset="0"/>
                <a:cs typeface="Times New Roman" panose="02020603050405020304" pitchFamily="18" charset="0"/>
              </a:rPr>
              <a:t> (75% of the balanced data). Hyperparameters were tuned using default settings initially, with potential adjustments based on validation results.</a:t>
            </a:r>
          </a:p>
          <a:p>
            <a:pPr marL="171450" indent="-171450">
              <a:buFont typeface="Wingdings" pitchFamily="2" charset="2"/>
              <a:buChar char="Ø"/>
            </a:pPr>
            <a:r>
              <a:rPr lang="en-IN" sz="1200" dirty="0">
                <a:latin typeface="Times New Roman" panose="02020603050405020304" pitchFamily="18" charset="0"/>
                <a:cs typeface="Times New Roman" panose="02020603050405020304" pitchFamily="18" charset="0"/>
              </a:rPr>
              <a:t>Model performance was assessed using standard classification metrics such as</a:t>
            </a:r>
            <a:endParaRPr lang="en-US" sz="12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FB9FB5F5-CD97-6D12-4320-E9084803845F}"/>
              </a:ext>
            </a:extLst>
          </p:cNvPr>
          <p:cNvSpPr txBox="1"/>
          <p:nvPr/>
        </p:nvSpPr>
        <p:spPr>
          <a:xfrm>
            <a:off x="1354975" y="3754433"/>
            <a:ext cx="4572000" cy="1015663"/>
          </a:xfrm>
          <a:prstGeom prst="rect">
            <a:avLst/>
          </a:prstGeom>
          <a:noFill/>
        </p:spPr>
        <p:txBody>
          <a:bodyPr wrap="square">
            <a:spAutoFit/>
          </a:bodyPr>
          <a:lstStyle/>
          <a:p>
            <a:pPr marL="171450" indent="-171450">
              <a:buFont typeface="Wingdings" pitchFamily="2" charset="2"/>
              <a:buChar char="ü"/>
            </a:pPr>
            <a:r>
              <a:rPr lang="en-IN" sz="1200" b="1" dirty="0">
                <a:latin typeface="Times New Roman" panose="02020603050405020304" pitchFamily="18" charset="0"/>
                <a:cs typeface="Times New Roman" panose="02020603050405020304" pitchFamily="18" charset="0"/>
              </a:rPr>
              <a:t>Accuracy</a:t>
            </a:r>
          </a:p>
          <a:p>
            <a:pPr marL="171450" indent="-171450">
              <a:buFont typeface="Wingdings" pitchFamily="2" charset="2"/>
              <a:buChar char="ü"/>
            </a:pPr>
            <a:r>
              <a:rPr lang="en-IN" sz="1200" b="1" dirty="0">
                <a:latin typeface="Times New Roman" panose="02020603050405020304" pitchFamily="18" charset="0"/>
                <a:cs typeface="Times New Roman" panose="02020603050405020304" pitchFamily="18" charset="0"/>
              </a:rPr>
              <a:t>Precision</a:t>
            </a:r>
          </a:p>
          <a:p>
            <a:pPr marL="171450" indent="-171450">
              <a:buFont typeface="Wingdings" pitchFamily="2" charset="2"/>
              <a:buChar char="ü"/>
            </a:pPr>
            <a:r>
              <a:rPr lang="en-IN" sz="1200" b="1" dirty="0">
                <a:latin typeface="Times New Roman" panose="02020603050405020304" pitchFamily="18" charset="0"/>
                <a:cs typeface="Times New Roman" panose="02020603050405020304" pitchFamily="18" charset="0"/>
              </a:rPr>
              <a:t>Recall</a:t>
            </a:r>
          </a:p>
          <a:p>
            <a:pPr marL="171450" indent="-171450">
              <a:buFont typeface="Wingdings" pitchFamily="2" charset="2"/>
              <a:buChar char="ü"/>
            </a:pPr>
            <a:r>
              <a:rPr lang="en-IN" sz="1200" b="1" dirty="0">
                <a:latin typeface="Times New Roman" panose="02020603050405020304" pitchFamily="18" charset="0"/>
                <a:cs typeface="Times New Roman" panose="02020603050405020304" pitchFamily="18" charset="0"/>
              </a:rPr>
              <a:t>F1-score</a:t>
            </a:r>
          </a:p>
          <a:p>
            <a:pPr marL="171450" indent="-171450">
              <a:buFont typeface="Wingdings" pitchFamily="2" charset="2"/>
              <a:buChar char="ü"/>
            </a:pPr>
            <a:r>
              <a:rPr lang="en-IN" sz="1200" b="1" dirty="0">
                <a:latin typeface="Times New Roman" panose="02020603050405020304" pitchFamily="18" charset="0"/>
                <a:cs typeface="Times New Roman" panose="02020603050405020304" pitchFamily="18" charset="0"/>
              </a:rPr>
              <a:t>ROC-AUC Score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1"/>
          <p:cNvSpPr/>
          <p:nvPr/>
        </p:nvSpPr>
        <p:spPr>
          <a:xfrm>
            <a:off x="-1" y="3807785"/>
            <a:ext cx="1903615" cy="1293483"/>
          </a:xfrm>
          <a:custGeom>
            <a:avLst/>
            <a:gdLst/>
            <a:ahLst/>
            <a:cxnLst/>
            <a:rect l="l" t="t" r="r" b="b"/>
            <a:pathLst>
              <a:path w="14057680" h="8229600" extrusionOk="0">
                <a:moveTo>
                  <a:pt x="0" y="0"/>
                </a:moveTo>
                <a:lnTo>
                  <a:pt x="14057679" y="0"/>
                </a:lnTo>
                <a:lnTo>
                  <a:pt x="14057679" y="8229600"/>
                </a:lnTo>
                <a:lnTo>
                  <a:pt x="0" y="8229600"/>
                </a:lnTo>
                <a:lnTo>
                  <a:pt x="0" y="0"/>
                </a:lnTo>
                <a:close/>
              </a:path>
            </a:pathLst>
          </a:custGeom>
          <a:blipFill rotWithShape="1">
            <a:blip r:embed="rId3">
              <a:alphaModFix/>
            </a:blip>
            <a:stretch>
              <a:fillRect/>
            </a:stretch>
          </a:blipFill>
          <a:ln>
            <a:noFill/>
          </a:ln>
        </p:spPr>
        <p:txBody>
          <a:bodyPr spcFirstLastPara="1" wrap="square" lIns="45725" tIns="22850" rIns="45725" bIns="22850" anchor="t" anchorCtr="0">
            <a:noAutofit/>
          </a:bodyPr>
          <a:lstStyle/>
          <a:p>
            <a:pPr marL="0" marR="0" lvl="0" indent="0" algn="l" rtl="0">
              <a:spcBef>
                <a:spcPts val="0"/>
              </a:spcBef>
              <a:spcAft>
                <a:spcPts val="0"/>
              </a:spcAft>
              <a:buNone/>
            </a:pPr>
            <a:endParaRPr sz="900">
              <a:solidFill>
                <a:schemeClr val="dk1"/>
              </a:solidFill>
              <a:latin typeface="Calibri"/>
              <a:ea typeface="Calibri"/>
              <a:cs typeface="Calibri"/>
              <a:sym typeface="Calibri"/>
            </a:endParaRPr>
          </a:p>
        </p:txBody>
      </p:sp>
      <p:sp>
        <p:nvSpPr>
          <p:cNvPr id="183" name="Google Shape;183;p21"/>
          <p:cNvSpPr txBox="1"/>
          <p:nvPr/>
        </p:nvSpPr>
        <p:spPr>
          <a:xfrm>
            <a:off x="514350" y="1540098"/>
            <a:ext cx="2361300" cy="212366"/>
          </a:xfrm>
          <a:prstGeom prst="rect">
            <a:avLst/>
          </a:prstGeom>
          <a:noFill/>
          <a:ln>
            <a:noFill/>
          </a:ln>
        </p:spPr>
        <p:txBody>
          <a:bodyPr spcFirstLastPara="1" wrap="square" lIns="0" tIns="0" rIns="0" bIns="0" anchor="t" anchorCtr="0">
            <a:spAutoFit/>
          </a:bodyPr>
          <a:lstStyle/>
          <a:p>
            <a:pPr marL="0" marR="0" lvl="0" indent="0" algn="l" rtl="0">
              <a:lnSpc>
                <a:spcPct val="138000"/>
              </a:lnSpc>
              <a:spcBef>
                <a:spcPts val="0"/>
              </a:spcBef>
              <a:spcAft>
                <a:spcPts val="0"/>
              </a:spcAft>
              <a:buNone/>
            </a:pPr>
            <a:r>
              <a:rPr lang="en" sz="1000" dirty="0" err="1">
                <a:solidFill>
                  <a:srgbClr val="5D4825"/>
                </a:solidFill>
                <a:latin typeface="Montserrat"/>
                <a:ea typeface="Montserrat"/>
                <a:cs typeface="Montserrat"/>
                <a:sym typeface="Montserrat"/>
              </a:rPr>
              <a:t>XGBoost</a:t>
            </a:r>
            <a:r>
              <a:rPr lang="en" sz="1000" dirty="0">
                <a:solidFill>
                  <a:srgbClr val="5D4825"/>
                </a:solidFill>
                <a:latin typeface="Montserrat"/>
                <a:ea typeface="Montserrat"/>
                <a:cs typeface="Montserrat"/>
                <a:sym typeface="Montserrat"/>
              </a:rPr>
              <a:t> accuracy: 0.85</a:t>
            </a:r>
            <a:endParaRPr sz="700" dirty="0"/>
          </a:p>
        </p:txBody>
      </p:sp>
      <p:sp>
        <p:nvSpPr>
          <p:cNvPr id="184" name="Google Shape;184;p21"/>
          <p:cNvSpPr txBox="1"/>
          <p:nvPr/>
        </p:nvSpPr>
        <p:spPr>
          <a:xfrm>
            <a:off x="522663" y="3094781"/>
            <a:ext cx="2361300" cy="212366"/>
          </a:xfrm>
          <a:prstGeom prst="rect">
            <a:avLst/>
          </a:prstGeom>
          <a:noFill/>
          <a:ln>
            <a:noFill/>
          </a:ln>
        </p:spPr>
        <p:txBody>
          <a:bodyPr spcFirstLastPara="1" wrap="square" lIns="0" tIns="0" rIns="0" bIns="0" anchor="t" anchorCtr="0">
            <a:spAutoFit/>
          </a:bodyPr>
          <a:lstStyle/>
          <a:p>
            <a:pPr marL="0" marR="0" lvl="0" indent="0" algn="just" rtl="0">
              <a:lnSpc>
                <a:spcPct val="138000"/>
              </a:lnSpc>
              <a:spcBef>
                <a:spcPts val="0"/>
              </a:spcBef>
              <a:spcAft>
                <a:spcPts val="0"/>
              </a:spcAft>
              <a:buNone/>
            </a:pPr>
            <a:r>
              <a:rPr lang="en" sz="1000" dirty="0">
                <a:solidFill>
                  <a:srgbClr val="5D4825"/>
                </a:solidFill>
                <a:latin typeface="Montserrat"/>
                <a:ea typeface="Montserrat"/>
                <a:cs typeface="Montserrat"/>
                <a:sym typeface="Montserrat"/>
              </a:rPr>
              <a:t>Logistic regression: 0.87</a:t>
            </a:r>
            <a:endParaRPr sz="700" dirty="0"/>
          </a:p>
        </p:txBody>
      </p:sp>
      <p:sp>
        <p:nvSpPr>
          <p:cNvPr id="185" name="Google Shape;185;p21"/>
          <p:cNvSpPr txBox="1"/>
          <p:nvPr/>
        </p:nvSpPr>
        <p:spPr>
          <a:xfrm>
            <a:off x="522663" y="2359384"/>
            <a:ext cx="2538300" cy="212366"/>
          </a:xfrm>
          <a:prstGeom prst="rect">
            <a:avLst/>
          </a:prstGeom>
          <a:noFill/>
          <a:ln>
            <a:noFill/>
          </a:ln>
        </p:spPr>
        <p:txBody>
          <a:bodyPr spcFirstLastPara="1" wrap="square" lIns="0" tIns="0" rIns="0" bIns="0" anchor="t" anchorCtr="0">
            <a:spAutoFit/>
          </a:bodyPr>
          <a:lstStyle/>
          <a:p>
            <a:pPr marL="0" marR="0" lvl="0" indent="0" algn="l" rtl="0">
              <a:lnSpc>
                <a:spcPct val="138000"/>
              </a:lnSpc>
              <a:spcBef>
                <a:spcPts val="0"/>
              </a:spcBef>
              <a:spcAft>
                <a:spcPts val="0"/>
              </a:spcAft>
              <a:buNone/>
            </a:pPr>
            <a:r>
              <a:rPr lang="en" sz="1000" dirty="0">
                <a:solidFill>
                  <a:srgbClr val="5D4825"/>
                </a:solidFill>
                <a:latin typeface="Montserrat"/>
                <a:ea typeface="Montserrat"/>
                <a:cs typeface="Montserrat"/>
                <a:sym typeface="Montserrat"/>
              </a:rPr>
              <a:t>Random Forest: 0.85</a:t>
            </a:r>
            <a:endParaRPr sz="700" dirty="0"/>
          </a:p>
        </p:txBody>
      </p:sp>
      <p:sp>
        <p:nvSpPr>
          <p:cNvPr id="186" name="Google Shape;186;p21"/>
          <p:cNvSpPr txBox="1"/>
          <p:nvPr/>
        </p:nvSpPr>
        <p:spPr>
          <a:xfrm>
            <a:off x="342584" y="363829"/>
            <a:ext cx="6498300" cy="461700"/>
          </a:xfrm>
          <a:prstGeom prst="rect">
            <a:avLst/>
          </a:prstGeom>
          <a:noFill/>
          <a:ln>
            <a:noFill/>
          </a:ln>
        </p:spPr>
        <p:txBody>
          <a:bodyPr spcFirstLastPara="1" wrap="square" lIns="0" tIns="0" rIns="0" bIns="0" anchor="t" anchorCtr="0">
            <a:spAutoFit/>
          </a:bodyPr>
          <a:lstStyle/>
          <a:p>
            <a:pPr marL="0" marR="0" lvl="0" indent="0" algn="l" rtl="0">
              <a:lnSpc>
                <a:spcPct val="115983"/>
              </a:lnSpc>
              <a:spcBef>
                <a:spcPts val="0"/>
              </a:spcBef>
              <a:spcAft>
                <a:spcPts val="0"/>
              </a:spcAft>
              <a:buNone/>
            </a:pPr>
            <a:r>
              <a:rPr lang="en" sz="3000" b="1">
                <a:solidFill>
                  <a:srgbClr val="9A5C2E"/>
                </a:solidFill>
                <a:latin typeface="Arial"/>
                <a:ea typeface="Arial"/>
                <a:cs typeface="Arial"/>
                <a:sym typeface="Arial"/>
              </a:rPr>
              <a:t>MODE</a:t>
            </a:r>
            <a:r>
              <a:rPr lang="en" sz="3000" b="1" u="none" strike="noStrike">
                <a:solidFill>
                  <a:srgbClr val="9A5C2E"/>
                </a:solidFill>
                <a:latin typeface="Arial"/>
                <a:ea typeface="Arial"/>
                <a:cs typeface="Arial"/>
                <a:sym typeface="Arial"/>
              </a:rPr>
              <a:t>L PERFORMANCE ANALYSIS</a:t>
            </a:r>
            <a:endParaRPr sz="700"/>
          </a:p>
        </p:txBody>
      </p:sp>
      <p:pic>
        <p:nvPicPr>
          <p:cNvPr id="3" name="Picture 2" descr="A screenshot of a graph&#10;&#10;AI-generated content may be incorrect.">
            <a:extLst>
              <a:ext uri="{FF2B5EF4-FFF2-40B4-BE49-F238E27FC236}">
                <a16:creationId xmlns:a16="http://schemas.microsoft.com/office/drawing/2014/main" id="{D2F0916D-FC04-2C70-453E-186C2A419252}"/>
              </a:ext>
            </a:extLst>
          </p:cNvPr>
          <p:cNvPicPr>
            <a:picLocks noChangeAspect="1"/>
          </p:cNvPicPr>
          <p:nvPr/>
        </p:nvPicPr>
        <p:blipFill>
          <a:blip r:embed="rId4"/>
          <a:stretch>
            <a:fillRect/>
          </a:stretch>
        </p:blipFill>
        <p:spPr>
          <a:xfrm>
            <a:off x="3222102" y="1370079"/>
            <a:ext cx="3046250" cy="558474"/>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31BFAFA6-4F65-14B9-DD5A-9F71BB835735}"/>
              </a:ext>
            </a:extLst>
          </p:cNvPr>
          <p:cNvPicPr>
            <a:picLocks noChangeAspect="1"/>
          </p:cNvPicPr>
          <p:nvPr/>
        </p:nvPicPr>
        <p:blipFill>
          <a:blip r:embed="rId5"/>
          <a:stretch>
            <a:fillRect/>
          </a:stretch>
        </p:blipFill>
        <p:spPr>
          <a:xfrm>
            <a:off x="3222103" y="2159853"/>
            <a:ext cx="3046250" cy="558474"/>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42A3B86E-017F-4F3E-AC59-D2CD8BE6FFF5}"/>
              </a:ext>
            </a:extLst>
          </p:cNvPr>
          <p:cNvPicPr>
            <a:picLocks noChangeAspect="1"/>
          </p:cNvPicPr>
          <p:nvPr/>
        </p:nvPicPr>
        <p:blipFill>
          <a:blip r:embed="rId6"/>
          <a:stretch>
            <a:fillRect/>
          </a:stretch>
        </p:blipFill>
        <p:spPr>
          <a:xfrm>
            <a:off x="3222101" y="2843315"/>
            <a:ext cx="3046251" cy="5584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24"/>
          <p:cNvSpPr txBox="1"/>
          <p:nvPr/>
        </p:nvSpPr>
        <p:spPr>
          <a:xfrm>
            <a:off x="528559" y="637688"/>
            <a:ext cx="6084600" cy="461700"/>
          </a:xfrm>
          <a:prstGeom prst="rect">
            <a:avLst/>
          </a:prstGeom>
          <a:noFill/>
          <a:ln>
            <a:noFill/>
          </a:ln>
        </p:spPr>
        <p:txBody>
          <a:bodyPr spcFirstLastPara="1" wrap="square" lIns="0" tIns="0" rIns="0" bIns="0" anchor="t" anchorCtr="0">
            <a:spAutoFit/>
          </a:bodyPr>
          <a:lstStyle/>
          <a:p>
            <a:pPr marL="0" marR="0" lvl="0" indent="0" algn="ctr" rtl="0">
              <a:lnSpc>
                <a:spcPct val="115983"/>
              </a:lnSpc>
              <a:spcBef>
                <a:spcPts val="0"/>
              </a:spcBef>
              <a:spcAft>
                <a:spcPts val="0"/>
              </a:spcAft>
              <a:buNone/>
            </a:pPr>
            <a:r>
              <a:rPr lang="en" sz="3000" b="1">
                <a:solidFill>
                  <a:srgbClr val="9A5C2E"/>
                </a:solidFill>
                <a:latin typeface="Arial"/>
                <a:ea typeface="Arial"/>
                <a:cs typeface="Arial"/>
                <a:sym typeface="Arial"/>
              </a:rPr>
              <a:t>CONCLUSION</a:t>
            </a:r>
            <a:endParaRPr sz="700"/>
          </a:p>
        </p:txBody>
      </p:sp>
      <p:sp>
        <p:nvSpPr>
          <p:cNvPr id="233" name="Google Shape;233;p24"/>
          <p:cNvSpPr/>
          <p:nvPr/>
        </p:nvSpPr>
        <p:spPr>
          <a:xfrm>
            <a:off x="0" y="3369135"/>
            <a:ext cx="4455622" cy="1774365"/>
          </a:xfrm>
          <a:custGeom>
            <a:avLst/>
            <a:gdLst/>
            <a:ahLst/>
            <a:cxnLst/>
            <a:rect l="l" t="t" r="r" b="b"/>
            <a:pathLst>
              <a:path w="14057680" h="8229600" extrusionOk="0">
                <a:moveTo>
                  <a:pt x="0" y="0"/>
                </a:moveTo>
                <a:lnTo>
                  <a:pt x="14057680" y="0"/>
                </a:lnTo>
                <a:lnTo>
                  <a:pt x="14057680" y="8229600"/>
                </a:lnTo>
                <a:lnTo>
                  <a:pt x="0" y="8229600"/>
                </a:lnTo>
                <a:lnTo>
                  <a:pt x="0" y="0"/>
                </a:lnTo>
                <a:close/>
              </a:path>
            </a:pathLst>
          </a:custGeom>
          <a:blipFill rotWithShape="1">
            <a:blip r:embed="rId3">
              <a:alphaModFix/>
            </a:blip>
            <a:stretch>
              <a:fillRect/>
            </a:stretch>
          </a:blipFill>
          <a:ln>
            <a:noFill/>
          </a:ln>
        </p:spPr>
        <p:txBody>
          <a:bodyPr spcFirstLastPara="1" wrap="square" lIns="45725" tIns="22850" rIns="45725" bIns="22850" anchor="t" anchorCtr="0">
            <a:noAutofit/>
          </a:bodyPr>
          <a:lstStyle/>
          <a:p>
            <a:pPr marL="0" marR="0" lvl="0" indent="0" algn="l" rtl="0">
              <a:spcBef>
                <a:spcPts val="0"/>
              </a:spcBef>
              <a:spcAft>
                <a:spcPts val="0"/>
              </a:spcAft>
              <a:buNone/>
            </a:pPr>
            <a:endParaRPr sz="900">
              <a:solidFill>
                <a:schemeClr val="dk1"/>
              </a:solidFill>
              <a:latin typeface="Calibri"/>
              <a:ea typeface="Calibri"/>
              <a:cs typeface="Calibri"/>
              <a:sym typeface="Calibri"/>
            </a:endParaRPr>
          </a:p>
        </p:txBody>
      </p:sp>
      <p:sp>
        <p:nvSpPr>
          <p:cNvPr id="234" name="Google Shape;234;p24"/>
          <p:cNvSpPr txBox="1"/>
          <p:nvPr/>
        </p:nvSpPr>
        <p:spPr>
          <a:xfrm>
            <a:off x="2881993" y="1578438"/>
            <a:ext cx="5004300" cy="153900"/>
          </a:xfrm>
          <a:prstGeom prst="rect">
            <a:avLst/>
          </a:prstGeom>
          <a:noFill/>
          <a:ln>
            <a:noFill/>
          </a:ln>
        </p:spPr>
        <p:txBody>
          <a:bodyPr spcFirstLastPara="1" wrap="square" lIns="0" tIns="0" rIns="0" bIns="0" anchor="t" anchorCtr="0">
            <a:spAutoFit/>
          </a:bodyPr>
          <a:lstStyle/>
          <a:p>
            <a:pPr marL="0" marR="0" lvl="0" indent="0" algn="just" rtl="0">
              <a:lnSpc>
                <a:spcPct val="159000"/>
              </a:lnSpc>
              <a:spcBef>
                <a:spcPts val="0"/>
              </a:spcBef>
              <a:spcAft>
                <a:spcPts val="0"/>
              </a:spcAft>
              <a:buNone/>
            </a:pPr>
            <a:r>
              <a:rPr lang="en" sz="1000" dirty="0">
                <a:solidFill>
                  <a:srgbClr val="5D4825"/>
                </a:solidFill>
                <a:latin typeface="Montserrat Medium"/>
                <a:ea typeface="Montserrat Medium"/>
                <a:cs typeface="Montserrat Medium"/>
                <a:sym typeface="Montserrat Medium"/>
              </a:rPr>
              <a:t>Effective EDA and preprocessing have been performed for effective results</a:t>
            </a:r>
            <a:endParaRPr sz="700" dirty="0"/>
          </a:p>
        </p:txBody>
      </p:sp>
      <p:sp>
        <p:nvSpPr>
          <p:cNvPr id="236" name="Google Shape;236;p24"/>
          <p:cNvSpPr txBox="1"/>
          <p:nvPr/>
        </p:nvSpPr>
        <p:spPr>
          <a:xfrm>
            <a:off x="2881993" y="2211389"/>
            <a:ext cx="4256700" cy="212366"/>
          </a:xfrm>
          <a:prstGeom prst="rect">
            <a:avLst/>
          </a:prstGeom>
          <a:noFill/>
          <a:ln>
            <a:noFill/>
          </a:ln>
        </p:spPr>
        <p:txBody>
          <a:bodyPr spcFirstLastPara="1" wrap="square" lIns="0" tIns="0" rIns="0" bIns="0" anchor="t" anchorCtr="0">
            <a:spAutoFit/>
          </a:bodyPr>
          <a:lstStyle/>
          <a:p>
            <a:pPr marL="0" marR="0" lvl="0" indent="0" algn="just" rtl="0">
              <a:lnSpc>
                <a:spcPct val="138000"/>
              </a:lnSpc>
              <a:spcBef>
                <a:spcPts val="0"/>
              </a:spcBef>
              <a:spcAft>
                <a:spcPts val="0"/>
              </a:spcAft>
              <a:buNone/>
            </a:pPr>
            <a:r>
              <a:rPr lang="en" sz="1000" dirty="0">
                <a:solidFill>
                  <a:srgbClr val="5D4825"/>
                </a:solidFill>
                <a:latin typeface="Montserrat Medium"/>
                <a:ea typeface="Montserrat Medium"/>
                <a:cs typeface="Montserrat Medium"/>
                <a:sym typeface="Montserrat Medium"/>
              </a:rPr>
              <a:t>Logistic regression has been the best-performing model</a:t>
            </a:r>
            <a:endParaRPr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25"/>
          <p:cNvSpPr txBox="1"/>
          <p:nvPr/>
        </p:nvSpPr>
        <p:spPr>
          <a:xfrm>
            <a:off x="773618" y="1287578"/>
            <a:ext cx="6574500" cy="2366802"/>
          </a:xfrm>
          <a:prstGeom prst="rect">
            <a:avLst/>
          </a:prstGeom>
          <a:noFill/>
          <a:ln>
            <a:noFill/>
          </a:ln>
        </p:spPr>
        <p:txBody>
          <a:bodyPr spcFirstLastPara="1" wrap="square" lIns="0" tIns="0" rIns="0" bIns="0" anchor="t" anchorCtr="0">
            <a:spAutoFit/>
          </a:bodyPr>
          <a:lstStyle/>
          <a:p>
            <a:pPr marL="285750" indent="-285750">
              <a:buFont typeface="Wingdings" panose="05000000000000000000" pitchFamily="2" charset="2"/>
              <a:buChar char="Ø"/>
            </a:pPr>
            <a:r>
              <a:rPr lang="en-GB" sz="1000" dirty="0">
                <a:latin typeface="Times New Roman" panose="02020603050405020304" pitchFamily="18" charset="0"/>
                <a:cs typeface="Times New Roman" panose="02020603050405020304" pitchFamily="18" charset="0"/>
              </a:rPr>
              <a:t>Asif, M., Saxena, A., Bhardwaj, S., Tiwari, S. and Chaturvedi, S. (2024) ‘A STUDY OF ALTMAN Z-SCORE BANKRUPTCY MODEL FOR ASSESSING BANKRUPTCY RISK OF NATIONAL STOCK EXCHANGE-LISTED COMPANIES’, </a:t>
            </a:r>
            <a:r>
              <a:rPr lang="en-GB" sz="1000" i="1" dirty="0">
                <a:latin typeface="Times New Roman" panose="02020603050405020304" pitchFamily="18" charset="0"/>
                <a:cs typeface="Times New Roman" panose="02020603050405020304" pitchFamily="18" charset="0"/>
              </a:rPr>
              <a:t>Proceedings on Engineering Sciences</a:t>
            </a:r>
            <a:r>
              <a:rPr lang="en-GB" sz="1000" dirty="0">
                <a:latin typeface="Times New Roman" panose="02020603050405020304" pitchFamily="18" charset="0"/>
                <a:cs typeface="Times New Roman" panose="02020603050405020304" pitchFamily="18" charset="0"/>
              </a:rPr>
              <a:t>, 6(2), pp. 789–806. (Available at: https://</a:t>
            </a:r>
            <a:r>
              <a:rPr lang="en-GB" sz="1000" dirty="0" err="1">
                <a:latin typeface="Times New Roman" panose="02020603050405020304" pitchFamily="18" charset="0"/>
                <a:cs typeface="Times New Roman" panose="02020603050405020304" pitchFamily="18" charset="0"/>
              </a:rPr>
              <a:t>doi.org</a:t>
            </a:r>
            <a:r>
              <a:rPr lang="en-GB" sz="1000" dirty="0">
                <a:latin typeface="Times New Roman" panose="02020603050405020304" pitchFamily="18" charset="0"/>
                <a:cs typeface="Times New Roman" panose="02020603050405020304" pitchFamily="18" charset="0"/>
              </a:rPr>
              <a:t>/10.24874/PES06.02A.006.)</a:t>
            </a:r>
            <a:endParaRPr lang="en-US" sz="1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GB" sz="1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GB" sz="1000" dirty="0">
                <a:latin typeface="Times New Roman" panose="02020603050405020304" pitchFamily="18" charset="0"/>
                <a:cs typeface="Times New Roman" panose="02020603050405020304" pitchFamily="18" charset="0"/>
              </a:rPr>
              <a:t>Di Quirico, R. (2023) ‘Uncertainty, Anxiety and the Post-Pandemic Economic Environment’, </a:t>
            </a:r>
            <a:r>
              <a:rPr lang="en-GB" sz="1000" i="1" dirty="0">
                <a:latin typeface="Times New Roman" panose="02020603050405020304" pitchFamily="18" charset="0"/>
                <a:cs typeface="Times New Roman" panose="02020603050405020304" pitchFamily="18" charset="0"/>
              </a:rPr>
              <a:t>Clinical Neuropsychiatry</a:t>
            </a:r>
            <a:r>
              <a:rPr lang="en-GB" sz="1000" dirty="0">
                <a:latin typeface="Times New Roman" panose="02020603050405020304" pitchFamily="18" charset="0"/>
                <a:cs typeface="Times New Roman" panose="02020603050405020304" pitchFamily="18" charset="0"/>
              </a:rPr>
              <a:t>, 20(4), p. 227. (Available at: https://</a:t>
            </a:r>
            <a:r>
              <a:rPr lang="en-GB" sz="1000" dirty="0" err="1">
                <a:latin typeface="Times New Roman" panose="02020603050405020304" pitchFamily="18" charset="0"/>
                <a:cs typeface="Times New Roman" panose="02020603050405020304" pitchFamily="18" charset="0"/>
              </a:rPr>
              <a:t>doi.org</a:t>
            </a:r>
            <a:r>
              <a:rPr lang="en-GB" sz="1000" dirty="0">
                <a:latin typeface="Times New Roman" panose="02020603050405020304" pitchFamily="18" charset="0"/>
                <a:cs typeface="Times New Roman" panose="02020603050405020304" pitchFamily="18" charset="0"/>
              </a:rPr>
              <a:t>/10.36131/cnfioritieditore20230401.)</a:t>
            </a:r>
            <a:endParaRPr lang="en-US" sz="1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GB" sz="1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GB" sz="1000" dirty="0">
                <a:latin typeface="Times New Roman" panose="02020603050405020304" pitchFamily="18" charset="0"/>
                <a:cs typeface="Times New Roman" panose="02020603050405020304" pitchFamily="18" charset="0"/>
              </a:rPr>
              <a:t>Statista (2025) </a:t>
            </a:r>
            <a:r>
              <a:rPr lang="en-GB" sz="1000" i="1" dirty="0">
                <a:latin typeface="Times New Roman" panose="02020603050405020304" pitchFamily="18" charset="0"/>
                <a:cs typeface="Times New Roman" panose="02020603050405020304" pitchFamily="18" charset="0"/>
              </a:rPr>
              <a:t>Largest U.S. bankruptcies as of June 2019</a:t>
            </a:r>
            <a:r>
              <a:rPr lang="en-GB" sz="1000" dirty="0">
                <a:latin typeface="Times New Roman" panose="02020603050405020304" pitchFamily="18" charset="0"/>
                <a:cs typeface="Times New Roman" panose="02020603050405020304" pitchFamily="18" charset="0"/>
              </a:rPr>
              <a:t>, </a:t>
            </a:r>
            <a:r>
              <a:rPr lang="en-GB" sz="1000" i="1" dirty="0">
                <a:latin typeface="Times New Roman" panose="02020603050405020304" pitchFamily="18" charset="0"/>
                <a:cs typeface="Times New Roman" panose="02020603050405020304" pitchFamily="18" charset="0"/>
              </a:rPr>
              <a:t>Statista</a:t>
            </a:r>
            <a:r>
              <a:rPr lang="en-GB" sz="1000" dirty="0">
                <a:latin typeface="Times New Roman" panose="02020603050405020304" pitchFamily="18" charset="0"/>
                <a:cs typeface="Times New Roman" panose="02020603050405020304" pitchFamily="18" charset="0"/>
              </a:rPr>
              <a:t>. (Available at: https://</a:t>
            </a:r>
            <a:r>
              <a:rPr lang="en-GB" sz="1000" dirty="0" err="1">
                <a:latin typeface="Times New Roman" panose="02020603050405020304" pitchFamily="18" charset="0"/>
                <a:cs typeface="Times New Roman" panose="02020603050405020304" pitchFamily="18" charset="0"/>
              </a:rPr>
              <a:t>www.statista.com</a:t>
            </a:r>
            <a:r>
              <a:rPr lang="en-GB" sz="1000" dirty="0">
                <a:latin typeface="Times New Roman" panose="02020603050405020304" pitchFamily="18" charset="0"/>
                <a:cs typeface="Times New Roman" panose="02020603050405020304" pitchFamily="18" charset="0"/>
              </a:rPr>
              <a:t>/statistics/1096794/largest-bankruptcies-</a:t>
            </a:r>
            <a:r>
              <a:rPr lang="en-GB" sz="1000" dirty="0" err="1">
                <a:latin typeface="Times New Roman" panose="02020603050405020304" pitchFamily="18" charset="0"/>
                <a:cs typeface="Times New Roman" panose="02020603050405020304" pitchFamily="18" charset="0"/>
              </a:rPr>
              <a:t>usa</a:t>
            </a:r>
            <a:r>
              <a:rPr lang="en-GB" sz="1000" dirty="0">
                <a:latin typeface="Times New Roman" panose="02020603050405020304" pitchFamily="18" charset="0"/>
                <a:cs typeface="Times New Roman" panose="02020603050405020304" pitchFamily="18" charset="0"/>
              </a:rPr>
              <a:t>-by-assets/) [Accessed: 29 May 2025].</a:t>
            </a:r>
            <a:endParaRPr lang="en-US" sz="1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GB" sz="1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GB" sz="1000" dirty="0">
                <a:latin typeface="Times New Roman" panose="02020603050405020304" pitchFamily="18" charset="0"/>
                <a:cs typeface="Times New Roman" panose="02020603050405020304" pitchFamily="18" charset="0"/>
              </a:rPr>
              <a:t>Tierney, A. (2024) </a:t>
            </a:r>
            <a:r>
              <a:rPr lang="en-GB" sz="1000" i="1" dirty="0">
                <a:latin typeface="Times New Roman" panose="02020603050405020304" pitchFamily="18" charset="0"/>
                <a:cs typeface="Times New Roman" panose="02020603050405020304" pitchFamily="18" charset="0"/>
              </a:rPr>
              <a:t>Number of business bankruptcies U.S. 2000-2020</a:t>
            </a:r>
            <a:r>
              <a:rPr lang="en-GB" sz="1000" dirty="0">
                <a:latin typeface="Times New Roman" panose="02020603050405020304" pitchFamily="18" charset="0"/>
                <a:cs typeface="Times New Roman" panose="02020603050405020304" pitchFamily="18" charset="0"/>
              </a:rPr>
              <a:t>, </a:t>
            </a:r>
            <a:r>
              <a:rPr lang="en-GB" sz="1000" i="1" dirty="0">
                <a:latin typeface="Times New Roman" panose="02020603050405020304" pitchFamily="18" charset="0"/>
                <a:cs typeface="Times New Roman" panose="02020603050405020304" pitchFamily="18" charset="0"/>
              </a:rPr>
              <a:t>Statista</a:t>
            </a:r>
            <a:r>
              <a:rPr lang="en-GB" sz="1000" dirty="0">
                <a:latin typeface="Times New Roman" panose="02020603050405020304" pitchFamily="18" charset="0"/>
                <a:cs typeface="Times New Roman" panose="02020603050405020304" pitchFamily="18" charset="0"/>
              </a:rPr>
              <a:t>. (Available at: https://</a:t>
            </a:r>
            <a:r>
              <a:rPr lang="en-GB" sz="1000" dirty="0" err="1">
                <a:latin typeface="Times New Roman" panose="02020603050405020304" pitchFamily="18" charset="0"/>
                <a:cs typeface="Times New Roman" panose="02020603050405020304" pitchFamily="18" charset="0"/>
              </a:rPr>
              <a:t>www.statista.com</a:t>
            </a:r>
            <a:r>
              <a:rPr lang="en-GB" sz="1000" dirty="0">
                <a:latin typeface="Times New Roman" panose="02020603050405020304" pitchFamily="18" charset="0"/>
                <a:cs typeface="Times New Roman" panose="02020603050405020304" pitchFamily="18" charset="0"/>
              </a:rPr>
              <a:t>/statistics/817918/number-of-business-bankruptcies-in-the-united-states/) [Accessed: 29 May 2025].</a:t>
            </a:r>
            <a:endParaRPr lang="en-US" sz="1000" dirty="0">
              <a:latin typeface="Times New Roman" panose="02020603050405020304" pitchFamily="18" charset="0"/>
              <a:cs typeface="Times New Roman" panose="02020603050405020304" pitchFamily="18" charset="0"/>
            </a:endParaRPr>
          </a:p>
          <a:p>
            <a:pPr marL="0" marR="0" lvl="0" indent="0" algn="just" rtl="0">
              <a:lnSpc>
                <a:spcPct val="138000"/>
              </a:lnSpc>
              <a:spcBef>
                <a:spcPts val="0"/>
              </a:spcBef>
              <a:spcAft>
                <a:spcPts val="0"/>
              </a:spcAft>
              <a:buNone/>
            </a:pPr>
            <a:endParaRPr sz="1000" dirty="0">
              <a:solidFill>
                <a:srgbClr val="5D4825"/>
              </a:solidFill>
              <a:latin typeface="Montserrat Medium"/>
              <a:ea typeface="Montserrat Medium"/>
              <a:cs typeface="Montserrat Medium"/>
              <a:sym typeface="Montserrat Medium"/>
            </a:endParaRPr>
          </a:p>
        </p:txBody>
      </p:sp>
      <p:sp>
        <p:nvSpPr>
          <p:cNvPr id="246" name="Google Shape;246;p25"/>
          <p:cNvSpPr txBox="1"/>
          <p:nvPr/>
        </p:nvSpPr>
        <p:spPr>
          <a:xfrm>
            <a:off x="773618" y="301943"/>
            <a:ext cx="6084600" cy="461700"/>
          </a:xfrm>
          <a:prstGeom prst="rect">
            <a:avLst/>
          </a:prstGeom>
          <a:noFill/>
          <a:ln>
            <a:noFill/>
          </a:ln>
        </p:spPr>
        <p:txBody>
          <a:bodyPr spcFirstLastPara="1" wrap="square" lIns="0" tIns="0" rIns="0" bIns="0" anchor="t" anchorCtr="0">
            <a:spAutoFit/>
          </a:bodyPr>
          <a:lstStyle/>
          <a:p>
            <a:pPr marL="0" marR="0" lvl="0" indent="0" algn="ctr" rtl="0">
              <a:lnSpc>
                <a:spcPct val="115983"/>
              </a:lnSpc>
              <a:spcBef>
                <a:spcPts val="0"/>
              </a:spcBef>
              <a:spcAft>
                <a:spcPts val="0"/>
              </a:spcAft>
              <a:buNone/>
            </a:pPr>
            <a:r>
              <a:rPr lang="en" sz="3000" b="1">
                <a:solidFill>
                  <a:srgbClr val="9A5C2E"/>
                </a:solidFill>
                <a:latin typeface="Arial"/>
                <a:ea typeface="Arial"/>
                <a:cs typeface="Arial"/>
                <a:sym typeface="Arial"/>
              </a:rPr>
              <a:t>REFERENCES</a:t>
            </a:r>
            <a:endParaRPr sz="700"/>
          </a:p>
        </p:txBody>
      </p:sp>
      <p:sp>
        <p:nvSpPr>
          <p:cNvPr id="248" name="Google Shape;248;p25"/>
          <p:cNvSpPr/>
          <p:nvPr/>
        </p:nvSpPr>
        <p:spPr>
          <a:xfrm>
            <a:off x="0" y="3474720"/>
            <a:ext cx="5153891" cy="1668780"/>
          </a:xfrm>
          <a:custGeom>
            <a:avLst/>
            <a:gdLst/>
            <a:ahLst/>
            <a:cxnLst/>
            <a:rect l="l" t="t" r="r" b="b"/>
            <a:pathLst>
              <a:path w="14057680" h="8229600" extrusionOk="0">
                <a:moveTo>
                  <a:pt x="0" y="0"/>
                </a:moveTo>
                <a:lnTo>
                  <a:pt x="14057679" y="0"/>
                </a:lnTo>
                <a:lnTo>
                  <a:pt x="14057679" y="8229600"/>
                </a:lnTo>
                <a:lnTo>
                  <a:pt x="0" y="8229600"/>
                </a:lnTo>
                <a:lnTo>
                  <a:pt x="0" y="0"/>
                </a:lnTo>
                <a:close/>
              </a:path>
            </a:pathLst>
          </a:custGeom>
          <a:blipFill rotWithShape="1">
            <a:blip r:embed="rId3">
              <a:alphaModFix/>
            </a:blip>
            <a:stretch>
              <a:fillRect/>
            </a:stretch>
          </a:blipFill>
          <a:ln>
            <a:noFill/>
          </a:ln>
        </p:spPr>
        <p:txBody>
          <a:bodyPr spcFirstLastPara="1" wrap="square" lIns="45725" tIns="22850" rIns="45725" bIns="22850" anchor="t" anchorCtr="0">
            <a:noAutofit/>
          </a:bodyPr>
          <a:lstStyle/>
          <a:p>
            <a:pPr marL="0" marR="0" lvl="0" indent="0" algn="l" rtl="0">
              <a:spcBef>
                <a:spcPts val="0"/>
              </a:spcBef>
              <a:spcAft>
                <a:spcPts val="0"/>
              </a:spcAft>
              <a:buNone/>
            </a:pPr>
            <a:endParaRPr sz="900">
              <a:solidFill>
                <a:schemeClr val="dk1"/>
              </a:solidFill>
              <a:latin typeface="Calibri"/>
              <a:ea typeface="Calibri"/>
              <a:cs typeface="Calibri"/>
              <a:sym typeface="Calibri"/>
            </a:endParaRPr>
          </a:p>
        </p:txBody>
      </p:sp>
      <p:sp>
        <p:nvSpPr>
          <p:cNvPr id="249" name="Google Shape;249;p25"/>
          <p:cNvSpPr/>
          <p:nvPr/>
        </p:nvSpPr>
        <p:spPr>
          <a:xfrm>
            <a:off x="7431578" y="15845"/>
            <a:ext cx="1712422" cy="1033895"/>
          </a:xfrm>
          <a:custGeom>
            <a:avLst/>
            <a:gdLst/>
            <a:ahLst/>
            <a:cxnLst/>
            <a:rect l="l" t="t" r="r" b="b"/>
            <a:pathLst>
              <a:path w="14057680" h="8229600" extrusionOk="0">
                <a:moveTo>
                  <a:pt x="0" y="0"/>
                </a:moveTo>
                <a:lnTo>
                  <a:pt x="14057680" y="0"/>
                </a:lnTo>
                <a:lnTo>
                  <a:pt x="14057680" y="8229600"/>
                </a:lnTo>
                <a:lnTo>
                  <a:pt x="0" y="8229600"/>
                </a:lnTo>
                <a:lnTo>
                  <a:pt x="0" y="0"/>
                </a:lnTo>
                <a:close/>
              </a:path>
            </a:pathLst>
          </a:custGeom>
          <a:blipFill rotWithShape="1">
            <a:blip r:embed="rId3">
              <a:alphaModFix/>
            </a:blip>
            <a:stretch>
              <a:fillRect/>
            </a:stretch>
          </a:blipFill>
          <a:ln>
            <a:noFill/>
          </a:ln>
        </p:spPr>
        <p:txBody>
          <a:bodyPr spcFirstLastPara="1" wrap="square" lIns="45725" tIns="22850" rIns="45725" bIns="22850" anchor="t" anchorCtr="0">
            <a:noAutofit/>
          </a:bodyPr>
          <a:lstStyle/>
          <a:p>
            <a:pPr marL="0" marR="0" lvl="0" indent="0" algn="l" rtl="0">
              <a:spcBef>
                <a:spcPts val="0"/>
              </a:spcBef>
              <a:spcAft>
                <a:spcPts val="0"/>
              </a:spcAft>
              <a:buNone/>
            </a:pPr>
            <a:endParaRPr sz="9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26"/>
          <p:cNvSpPr txBox="1"/>
          <p:nvPr/>
        </p:nvSpPr>
        <p:spPr>
          <a:xfrm>
            <a:off x="1924182" y="2024381"/>
            <a:ext cx="6084600" cy="569400"/>
          </a:xfrm>
          <a:prstGeom prst="rect">
            <a:avLst/>
          </a:prstGeom>
          <a:noFill/>
          <a:ln>
            <a:noFill/>
          </a:ln>
        </p:spPr>
        <p:txBody>
          <a:bodyPr spcFirstLastPara="1" wrap="square" lIns="0" tIns="0" rIns="0" bIns="0" anchor="t" anchorCtr="0">
            <a:spAutoFit/>
          </a:bodyPr>
          <a:lstStyle/>
          <a:p>
            <a:pPr marL="0" marR="0" lvl="0" indent="0" algn="l" rtl="0">
              <a:lnSpc>
                <a:spcPct val="116002"/>
              </a:lnSpc>
              <a:spcBef>
                <a:spcPts val="0"/>
              </a:spcBef>
              <a:spcAft>
                <a:spcPts val="0"/>
              </a:spcAft>
              <a:buNone/>
            </a:pPr>
            <a:r>
              <a:rPr lang="en" sz="3700" b="1">
                <a:solidFill>
                  <a:srgbClr val="9A5C2E"/>
                </a:solidFill>
                <a:latin typeface="Arial"/>
                <a:ea typeface="Arial"/>
                <a:cs typeface="Arial"/>
                <a:sym typeface="Arial"/>
              </a:rPr>
              <a:t>THANK YOU</a:t>
            </a:r>
            <a:endParaRPr sz="700"/>
          </a:p>
        </p:txBody>
      </p:sp>
      <p:sp>
        <p:nvSpPr>
          <p:cNvPr id="259" name="Google Shape;259;p26"/>
          <p:cNvSpPr/>
          <p:nvPr/>
        </p:nvSpPr>
        <p:spPr>
          <a:xfrm>
            <a:off x="-1262441" y="3855922"/>
            <a:ext cx="7028840" cy="4114800"/>
          </a:xfrm>
          <a:custGeom>
            <a:avLst/>
            <a:gdLst/>
            <a:ahLst/>
            <a:cxnLst/>
            <a:rect l="l" t="t" r="r" b="b"/>
            <a:pathLst>
              <a:path w="14057680" h="8229600" extrusionOk="0">
                <a:moveTo>
                  <a:pt x="0" y="0"/>
                </a:moveTo>
                <a:lnTo>
                  <a:pt x="14057679" y="0"/>
                </a:lnTo>
                <a:lnTo>
                  <a:pt x="14057679" y="8229600"/>
                </a:lnTo>
                <a:lnTo>
                  <a:pt x="0" y="8229600"/>
                </a:lnTo>
                <a:lnTo>
                  <a:pt x="0" y="0"/>
                </a:lnTo>
                <a:close/>
              </a:path>
            </a:pathLst>
          </a:custGeom>
          <a:blipFill rotWithShape="1">
            <a:blip r:embed="rId3">
              <a:alphaModFix/>
            </a:blip>
            <a:stretch>
              <a:fillRect/>
            </a:stretch>
          </a:blipFill>
          <a:ln>
            <a:noFill/>
          </a:ln>
        </p:spPr>
        <p:txBody>
          <a:bodyPr spcFirstLastPara="1" wrap="square" lIns="45725" tIns="22850" rIns="45725" bIns="22850" anchor="t" anchorCtr="0">
            <a:noAutofit/>
          </a:bodyPr>
          <a:lstStyle/>
          <a:p>
            <a:pPr marL="0" marR="0" lvl="0" indent="0" algn="l" rtl="0">
              <a:spcBef>
                <a:spcPts val="0"/>
              </a:spcBef>
              <a:spcAft>
                <a:spcPts val="0"/>
              </a:spcAft>
              <a:buNone/>
            </a:pPr>
            <a:endParaRPr sz="900">
              <a:solidFill>
                <a:schemeClr val="dk1"/>
              </a:solidFill>
              <a:latin typeface="Calibri"/>
              <a:ea typeface="Calibri"/>
              <a:cs typeface="Calibri"/>
              <a:sym typeface="Calibri"/>
            </a:endParaRPr>
          </a:p>
        </p:txBody>
      </p:sp>
      <p:sp>
        <p:nvSpPr>
          <p:cNvPr id="260" name="Google Shape;260;p26"/>
          <p:cNvSpPr/>
          <p:nvPr/>
        </p:nvSpPr>
        <p:spPr>
          <a:xfrm>
            <a:off x="7103098" y="-1565156"/>
            <a:ext cx="7028840" cy="4114800"/>
          </a:xfrm>
          <a:custGeom>
            <a:avLst/>
            <a:gdLst/>
            <a:ahLst/>
            <a:cxnLst/>
            <a:rect l="l" t="t" r="r" b="b"/>
            <a:pathLst>
              <a:path w="14057680" h="8229600" extrusionOk="0">
                <a:moveTo>
                  <a:pt x="0" y="0"/>
                </a:moveTo>
                <a:lnTo>
                  <a:pt x="14057679" y="0"/>
                </a:lnTo>
                <a:lnTo>
                  <a:pt x="14057679" y="8229600"/>
                </a:lnTo>
                <a:lnTo>
                  <a:pt x="0" y="8229600"/>
                </a:lnTo>
                <a:lnTo>
                  <a:pt x="0" y="0"/>
                </a:lnTo>
                <a:close/>
              </a:path>
            </a:pathLst>
          </a:custGeom>
          <a:blipFill rotWithShape="1">
            <a:blip r:embed="rId3">
              <a:alphaModFix/>
            </a:blip>
            <a:stretch>
              <a:fillRect/>
            </a:stretch>
          </a:blipFill>
          <a:ln>
            <a:noFill/>
          </a:ln>
        </p:spPr>
        <p:txBody>
          <a:bodyPr spcFirstLastPara="1" wrap="square" lIns="45725" tIns="22850" rIns="45725" bIns="22850" anchor="t" anchorCtr="0">
            <a:noAutofit/>
          </a:bodyPr>
          <a:lstStyle/>
          <a:p>
            <a:pPr marL="0" marR="0" lvl="0" indent="0" algn="l" rtl="0">
              <a:spcBef>
                <a:spcPts val="0"/>
              </a:spcBef>
              <a:spcAft>
                <a:spcPts val="0"/>
              </a:spcAft>
              <a:buNone/>
            </a:pPr>
            <a:endParaRPr sz="9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277</TotalTime>
  <Words>2027</Words>
  <Application>Microsoft Macintosh PowerPoint</Application>
  <PresentationFormat>On-screen Show (16:9)</PresentationFormat>
  <Paragraphs>101</Paragraphs>
  <Slides>12</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Times New Roman</vt:lpstr>
      <vt:lpstr>Calibri</vt:lpstr>
      <vt:lpstr>Montserrat</vt:lpstr>
      <vt:lpstr>Montserrat Medium</vt:lpstr>
      <vt:lpstr>Wingdings</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Vasanth Mekala [Student-PECS]</cp:lastModifiedBy>
  <cp:revision>7</cp:revision>
  <dcterms:modified xsi:type="dcterms:W3CDTF">2025-08-07T03:17:58Z</dcterms:modified>
</cp:coreProperties>
</file>